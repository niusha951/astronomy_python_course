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7" r:id="rId5"/>
    <p:sldId id="268" r:id="rId6"/>
    <p:sldId id="259" r:id="rId7"/>
    <p:sldId id="260" r:id="rId8"/>
    <p:sldId id="266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84"/>
    <p:restoredTop sz="94737"/>
  </p:normalViewPr>
  <p:slideViewPr>
    <p:cSldViewPr snapToGrid="0">
      <p:cViewPr varScale="1">
        <p:scale>
          <a:sx n="119" d="100"/>
          <a:sy n="119" d="100"/>
        </p:scale>
        <p:origin x="2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C2C8D8-77F0-4F44-8C60-7A2FBE5E980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CECABA-8E9C-B642-A23C-07F13C516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16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CECABA-8E9C-B642-A23C-07F13C516C0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469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67C40-E4A2-50E5-3D0F-32F63678D5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901294-7634-3A8F-CA45-A9575E1E5A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C0101-AC92-ED85-9D1A-9190A3525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E633-DE24-AB47-AF38-8C024C6A9D75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AF025-756C-8C61-1057-E7287847D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D7368-B98C-02CD-E56B-2296516D3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B89F6-9956-2A45-AAE4-2C53CD38E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16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9B215-38E1-C503-DCBF-C18FA5749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56B9A-6CDE-9C82-838C-DF0CDDDC7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71716-2A7C-990C-D11A-466AEBB96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E633-DE24-AB47-AF38-8C024C6A9D75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516FF-896C-5EB7-DC98-CB73759A3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70C00-3B6C-5A18-7C46-C88EA888B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B89F6-9956-2A45-AAE4-2C53CD38E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95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57D94-6510-D01E-8668-571AC044B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3F7AC-4C37-8537-7AEE-AD8F2E462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BEE9C-E350-4927-AC70-324064094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E633-DE24-AB47-AF38-8C024C6A9D75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BB6D5-8880-53E6-3446-DDA6D9EC4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D6897-FE37-5967-2FFF-E3C743BDF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B89F6-9956-2A45-AAE4-2C53CD38E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800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5DE3F-119C-DA48-63FE-B36BEEF5A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155D8-CFBB-A289-584C-224E609F6F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25B6E7-EDE9-F2EA-70B7-AFE2C33F2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B846BF-1D21-4635-A114-A94D39AC3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E633-DE24-AB47-AF38-8C024C6A9D75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E73BA-903D-25BA-FFF7-21FF4D1F1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13E9E2-E617-0D5C-0772-40A6D2539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B89F6-9956-2A45-AAE4-2C53CD38E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880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B0BB6-8B42-732B-3D76-BCB022CC3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24C5DD-CFC0-ED52-50B4-8CEBA99D6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4ACDB6-5786-30BC-32A6-330FBA61EE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B9CBF1-1653-F8B2-432D-FF399D3119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C8F0E1-AEA2-9282-208F-8782227E01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6AEB84-E225-584D-3F33-6C66DE427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E633-DE24-AB47-AF38-8C024C6A9D75}" type="datetimeFigureOut">
              <a:rPr lang="en-US" smtClean="0"/>
              <a:t>10/5/26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7510EC-A78B-8FA2-B8BB-E78E36B96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B052BF-4D30-EE71-5745-77516D40C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B89F6-9956-2A45-AAE4-2C53CD38E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382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672C1-2361-6116-A8E1-A4353AD39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3DAA27-2076-DF8E-6637-A384053BE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E633-DE24-AB47-AF38-8C024C6A9D75}" type="datetimeFigureOut">
              <a:rPr lang="en-US" smtClean="0"/>
              <a:t>10/5/26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E3D18E-680F-EF57-DE02-A1206688F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D61994-D142-576C-D769-FB69EFAFE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B89F6-9956-2A45-AAE4-2C53CD38E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026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85633B-6E81-0EEC-C991-AFC3872F1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E633-DE24-AB47-AF38-8C024C6A9D75}" type="datetimeFigureOut">
              <a:rPr lang="en-US" smtClean="0"/>
              <a:t>10/5/26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5ED7A6-AA7E-BDA0-9E83-E619AF123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D4318-469C-F0B0-4D37-2E85AFF97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B89F6-9956-2A45-AAE4-2C53CD38E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632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0417D-EA74-3EF1-90AE-087149D2F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6D379-EDD7-9D6D-AB4A-DFBED024B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B2DA54-2896-1579-21C4-09AC627701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D30F7A-5E50-BECB-9FB0-65775B349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E633-DE24-AB47-AF38-8C024C6A9D75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3F6D79-85B5-52B2-AAF4-C7ADC60F2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454A26-EC2C-8FFD-2393-863149FD5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B89F6-9956-2A45-AAE4-2C53CD38E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864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DE081-CA31-BD48-CDCE-F50F16C7C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25EBC4-9D2E-320A-2032-5910DC185E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5B38E1-E622-A34F-D816-86A9BCB68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00DE37-54A3-E4CF-51CD-93A319997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E633-DE24-AB47-AF38-8C024C6A9D75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25D166-4468-2B63-8B20-8908ABB89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BB96CD-D7E9-7D64-DFC8-69875BA86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B89F6-9956-2A45-AAE4-2C53CD38E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333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FF449-48C3-4387-6202-7F859F4EE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5AC390-8D45-E4BB-8117-B1C749B98A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730DB-7439-E373-3DA2-93749D666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E633-DE24-AB47-AF38-8C024C6A9D75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F18E8-BC08-0E76-F0D0-D958191C5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619B5-CB39-F75E-2428-0F316C22E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B89F6-9956-2A45-AAE4-2C53CD38E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345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1A6639-B29B-DF23-C0CC-BAB085D6A9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A4AB65-9E20-BF79-53C9-81B67B5168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2AC29-17B6-7491-0EBA-AAF4B8635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E633-DE24-AB47-AF38-8C024C6A9D75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335FB-0F2A-DBE5-340B-3DC52D0DB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C05E9-F793-2359-D6D3-C3C151AF9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B89F6-9956-2A45-AAE4-2C53CD38E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133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D0D903-9F10-34D4-CF94-D1670B797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E0AFBD-7819-67AC-4D10-FDEA52A85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EDDB3-8FA3-0E05-8E2B-2128B6ECA9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A9E633-DE24-AB47-AF38-8C024C6A9D75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3D7E9-5DD0-E6E8-6EFA-90D148C001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BD479-49C1-4E25-A846-A43F62AB2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5B89F6-9956-2A45-AAE4-2C53CD38E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719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UfYfpl7t8fVzLu0c4-6m191DYB2YfTKU?usp=sharin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elescopius.com/pictures/view/230899/ngc-288/ngc-288/by-imnewhere?gallery_order=created_timestamp&amp;gallery_object_name=NGC+288&amp;gallery_object_search_in_description=false&amp;gallery_object_types=&amp;gallery_filter_type_ids=&amp;gallery_page=1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telescopius.com/pictures/view/230899/ngc-288/ngc-288/by-imnewhere?gallery_order=created_timestamp&amp;gallery_object_name=NGC+288&amp;gallery_object_search_in_description=false&amp;gallery_object_types=&amp;gallery_filter_type_ids=&amp;gallery_page=1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telescopius.com/pictures/view/230899/ngc-288/ngc-288/by-imnewhere?gallery_order=created_timestamp&amp;gallery_object_name=NGC+288&amp;gallery_object_search_in_description=false&amp;gallery_object_types=&amp;gallery_filter_type_ids=&amp;gallery_page=1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HZGCoVF3YvM?feature=oembed" TargetMode="External"/><Relationship Id="rId5" Type="http://schemas.openxmlformats.org/officeDocument/2006/relationships/hyperlink" Target="https://www.youtube.com/watch?v=HZGCoVF3YvM" TargetMode="External"/><Relationship Id="rId4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F214D-BF8E-1E57-FD98-CC53BC7652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From Stars to Statistics: Understanding Globular Clusters with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E06BD7-EF7D-F354-DE43-936889F5D5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Niusha Ahvazi</a:t>
            </a:r>
          </a:p>
          <a:p>
            <a:r>
              <a:rPr lang="en-US" dirty="0">
                <a:solidFill>
                  <a:schemeClr val="bg1"/>
                </a:solidFill>
              </a:rPr>
              <a:t>GECO Fellow, UVA</a:t>
            </a:r>
          </a:p>
          <a:p>
            <a:r>
              <a:rPr lang="en-US" dirty="0">
                <a:solidFill>
                  <a:schemeClr val="bg1"/>
                </a:solidFill>
              </a:rPr>
              <a:t>Email: </a:t>
            </a:r>
            <a:r>
              <a:rPr lang="en-US" dirty="0" err="1">
                <a:solidFill>
                  <a:schemeClr val="bg1"/>
                </a:solidFill>
              </a:rPr>
              <a:t>nahvazi@virginia.edu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 descr="A lizard on a black background&#10;&#10;AI-generated content may be incorrect.">
            <a:extLst>
              <a:ext uri="{FF2B5EF4-FFF2-40B4-BE49-F238E27FC236}">
                <a16:creationId xmlns:a16="http://schemas.microsoft.com/office/drawing/2014/main" id="{81AB3C60-DF82-D5C6-3B61-00114D32AC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48" t="9492" r="3956" b="13446"/>
          <a:stretch>
            <a:fillRect/>
          </a:stretch>
        </p:blipFill>
        <p:spPr>
          <a:xfrm>
            <a:off x="10390912" y="5635033"/>
            <a:ext cx="1642610" cy="1059209"/>
          </a:xfrm>
          <a:prstGeom prst="rect">
            <a:avLst/>
          </a:prstGeom>
        </p:spPr>
      </p:pic>
      <p:pic>
        <p:nvPicPr>
          <p:cNvPr id="8" name="Picture 7" descr="A logo of a university&#10;&#10;AI-generated content may be incorrect.">
            <a:extLst>
              <a:ext uri="{FF2B5EF4-FFF2-40B4-BE49-F238E27FC236}">
                <a16:creationId xmlns:a16="http://schemas.microsoft.com/office/drawing/2014/main" id="{B01E6C2E-0BA0-9DDD-CDD5-D8DCBFCF1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78" y="5106742"/>
            <a:ext cx="2590800" cy="158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57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ular Callout 9">
            <a:extLst>
              <a:ext uri="{FF2B5EF4-FFF2-40B4-BE49-F238E27FC236}">
                <a16:creationId xmlns:a16="http://schemas.microsoft.com/office/drawing/2014/main" id="{22E7869D-3ABE-4410-4625-217AB976EE4D}"/>
              </a:ext>
            </a:extLst>
          </p:cNvPr>
          <p:cNvSpPr/>
          <p:nvPr/>
        </p:nvSpPr>
        <p:spPr>
          <a:xfrm>
            <a:off x="8154099" y="427839"/>
            <a:ext cx="3875714" cy="3775045"/>
          </a:xfrm>
          <a:prstGeom prst="wedgeRectCallout">
            <a:avLst>
              <a:gd name="adj1" fmla="val -16067"/>
              <a:gd name="adj2" fmla="val 60053"/>
            </a:avLst>
          </a:prstGeom>
          <a:ln cap="rnd">
            <a:solidFill>
              <a:schemeClr val="bg1"/>
            </a:solidFill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A11AA5-740E-677E-637B-4323EAEC65E7}"/>
              </a:ext>
            </a:extLst>
          </p:cNvPr>
          <p:cNvSpPr txBox="1"/>
          <p:nvPr/>
        </p:nvSpPr>
        <p:spPr>
          <a:xfrm>
            <a:off x="581891" y="786411"/>
            <a:ext cx="5227782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Topics we will cover today:</a:t>
            </a:r>
            <a:br>
              <a:rPr lang="en-US" sz="2400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rgbClr val="E3E3E3"/>
                </a:solidFill>
                <a:latin typeface="Google Sans Text"/>
              </a:rPr>
              <a:t>Gaussian Distributions</a:t>
            </a:r>
            <a:r>
              <a:rPr lang="en-US" altLang="en-US" dirty="0">
                <a:solidFill>
                  <a:srgbClr val="E3E3E3"/>
                </a:solidFill>
                <a:latin typeface="Google Sans Text"/>
              </a:rPr>
              <a:t>: The bell curve and how to describe it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solidFill>
                <a:srgbClr val="E3E3E3"/>
              </a:solidFill>
              <a:latin typeface="Google Sans Tex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rgbClr val="E3E3E3"/>
                </a:solidFill>
                <a:latin typeface="Google Sans Text"/>
              </a:rPr>
              <a:t>Likelihood</a:t>
            </a:r>
            <a:r>
              <a:rPr lang="en-US" altLang="en-US" dirty="0">
                <a:solidFill>
                  <a:srgbClr val="E3E3E3"/>
                </a:solidFill>
                <a:latin typeface="Google Sans Text"/>
              </a:rPr>
              <a:t>: How to measure whether data supports a hypothesis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solidFill>
                <a:srgbClr val="E3E3E3"/>
              </a:solidFill>
              <a:latin typeface="Google Sans Tex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rgbClr val="E3E3E3"/>
                </a:solidFill>
                <a:latin typeface="Google Sans Text"/>
              </a:rPr>
              <a:t>Mixture Models</a:t>
            </a:r>
            <a:r>
              <a:rPr lang="en-US" altLang="en-US" dirty="0">
                <a:solidFill>
                  <a:srgbClr val="E3E3E3"/>
                </a:solidFill>
                <a:latin typeface="Google Sans Text"/>
              </a:rPr>
              <a:t>: How to unmix overlapping populations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solidFill>
                <a:srgbClr val="E3E3E3"/>
              </a:solidFill>
              <a:latin typeface="Google Sans Tex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rgbClr val="E3E3E3"/>
                </a:solidFill>
                <a:latin typeface="Google Sans Text"/>
              </a:rPr>
              <a:t>Bayes' Theorem</a:t>
            </a:r>
            <a:r>
              <a:rPr lang="en-US" altLang="en-US" dirty="0">
                <a:solidFill>
                  <a:srgbClr val="E3E3E3"/>
                </a:solidFill>
                <a:latin typeface="Google Sans Text"/>
              </a:rPr>
              <a:t>: How to combine data with prior knowledge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solidFill>
                <a:srgbClr val="E3E3E3"/>
              </a:solidFill>
              <a:latin typeface="Google Sans Tex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rgbClr val="E3E3E3"/>
                </a:solidFill>
                <a:latin typeface="Google Sans Text"/>
              </a:rPr>
              <a:t>MCMC Sampling</a:t>
            </a:r>
            <a:r>
              <a:rPr lang="en-US" altLang="en-US" dirty="0">
                <a:solidFill>
                  <a:srgbClr val="E3E3E3"/>
                </a:solidFill>
                <a:latin typeface="Google Sans Text"/>
              </a:rPr>
              <a:t>: How to explore the space of possible solutions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BA0925-669B-0806-8015-7C1BBD6CF270}"/>
              </a:ext>
            </a:extLst>
          </p:cNvPr>
          <p:cNvSpPr txBox="1"/>
          <p:nvPr/>
        </p:nvSpPr>
        <p:spPr>
          <a:xfrm>
            <a:off x="8312727" y="4756728"/>
            <a:ext cx="35929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Link to the notebook: </a:t>
            </a:r>
            <a:r>
              <a:rPr lang="en-US" dirty="0">
                <a:solidFill>
                  <a:schemeClr val="bg1"/>
                </a:solidFill>
                <a:hlinkClick r:id="rId3"/>
              </a:rPr>
              <a:t>https://</a:t>
            </a:r>
            <a:r>
              <a:rPr lang="en-US" dirty="0" err="1">
                <a:solidFill>
                  <a:schemeClr val="bg1"/>
                </a:solidFill>
                <a:hlinkClick r:id="rId3"/>
              </a:rPr>
              <a:t>colab.research.google.com</a:t>
            </a:r>
            <a:r>
              <a:rPr lang="en-US" dirty="0">
                <a:solidFill>
                  <a:schemeClr val="bg1"/>
                </a:solidFill>
                <a:hlinkClick r:id="rId3"/>
              </a:rPr>
              <a:t>/drive/1UfYfpl7t8fVzLu0c4-6m191DYB2YfTKU?usp=sharing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Picture 8" descr="A qr code on a black background&#10;&#10;AI-generated content may be incorrect.">
            <a:extLst>
              <a:ext uri="{FF2B5EF4-FFF2-40B4-BE49-F238E27FC236}">
                <a16:creationId xmlns:a16="http://schemas.microsoft.com/office/drawing/2014/main" id="{2B061A03-2DDF-51D6-CADC-61809A0C7E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9658" y="865477"/>
            <a:ext cx="3316448" cy="3258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722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uster of stars in space&#10;&#10;AI-generated content may be incorrect.">
            <a:extLst>
              <a:ext uri="{FF2B5EF4-FFF2-40B4-BE49-F238E27FC236}">
                <a16:creationId xmlns:a16="http://schemas.microsoft.com/office/drawing/2014/main" id="{D42710DD-57E2-0737-AD55-3EE104C722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240" t="30573" r="32794" b="33198"/>
          <a:stretch>
            <a:fillRect/>
          </a:stretch>
        </p:blipFill>
        <p:spPr>
          <a:xfrm>
            <a:off x="1133776" y="2954460"/>
            <a:ext cx="2105892" cy="20377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E402CF-FE69-3ABE-7539-9ECA4ECE951C}"/>
              </a:ext>
            </a:extLst>
          </p:cNvPr>
          <p:cNvSpPr txBox="1"/>
          <p:nvPr/>
        </p:nvSpPr>
        <p:spPr>
          <a:xfrm>
            <a:off x="766618" y="378691"/>
            <a:ext cx="5449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story of NGC 288, a “Globular Cluster”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63E02F-515D-0600-6B67-C00883018A00}"/>
              </a:ext>
            </a:extLst>
          </p:cNvPr>
          <p:cNvSpPr txBox="1"/>
          <p:nvPr/>
        </p:nvSpPr>
        <p:spPr>
          <a:xfrm>
            <a:off x="0" y="6504295"/>
            <a:ext cx="19673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NGC 288 image credit: </a:t>
            </a:r>
            <a:r>
              <a:rPr lang="en-US" sz="800" dirty="0">
                <a:solidFill>
                  <a:schemeClr val="bg1"/>
                </a:solidFill>
                <a:hlinkClick r:id="rId3"/>
              </a:rPr>
              <a:t>https://telescopius.com</a:t>
            </a:r>
            <a:endParaRPr lang="en-US" sz="800" dirty="0">
              <a:solidFill>
                <a:schemeClr val="bg1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7555253-D89B-7221-128E-BE8EF0303529}"/>
              </a:ext>
            </a:extLst>
          </p:cNvPr>
          <p:cNvCxnSpPr>
            <a:cxnSpLocks/>
          </p:cNvCxnSpPr>
          <p:nvPr/>
        </p:nvCxnSpPr>
        <p:spPr>
          <a:xfrm flipV="1">
            <a:off x="841910" y="1736436"/>
            <a:ext cx="0" cy="376843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E8D6793-9868-8A96-28C7-965D40A9F362}"/>
              </a:ext>
            </a:extLst>
          </p:cNvPr>
          <p:cNvCxnSpPr>
            <a:cxnSpLocks/>
          </p:cNvCxnSpPr>
          <p:nvPr/>
        </p:nvCxnSpPr>
        <p:spPr>
          <a:xfrm>
            <a:off x="831273" y="5504873"/>
            <a:ext cx="6139821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6B225C0-A410-0277-2E3C-A17A61175AFA}"/>
              </a:ext>
            </a:extLst>
          </p:cNvPr>
          <p:cNvSpPr txBox="1"/>
          <p:nvPr/>
        </p:nvSpPr>
        <p:spPr>
          <a:xfrm rot="19815555">
            <a:off x="348497" y="3334138"/>
            <a:ext cx="581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79AEF4D-63A8-02C5-A424-AE39544C2335}"/>
              </a:ext>
            </a:extLst>
          </p:cNvPr>
          <p:cNvSpPr txBox="1"/>
          <p:nvPr/>
        </p:nvSpPr>
        <p:spPr>
          <a:xfrm>
            <a:off x="3426693" y="5677436"/>
            <a:ext cx="729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DEC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6C4D28D-F834-A7E4-A99E-57B17FD04D82}"/>
              </a:ext>
            </a:extLst>
          </p:cNvPr>
          <p:cNvSpPr txBox="1"/>
          <p:nvPr/>
        </p:nvSpPr>
        <p:spPr>
          <a:xfrm>
            <a:off x="1109767" y="1461574"/>
            <a:ext cx="434486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Dense, gravitationally bound system of stars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Include thousands to millions of stars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Orbit galaxies (like the Milky Way)</a:t>
            </a:r>
          </a:p>
          <a:p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5" name="Rectangular Callout 44">
            <a:extLst>
              <a:ext uri="{FF2B5EF4-FFF2-40B4-BE49-F238E27FC236}">
                <a16:creationId xmlns:a16="http://schemas.microsoft.com/office/drawing/2014/main" id="{AFBD0C21-C1BE-6509-6B21-C047AA5B9A14}"/>
              </a:ext>
            </a:extLst>
          </p:cNvPr>
          <p:cNvSpPr/>
          <p:nvPr/>
        </p:nvSpPr>
        <p:spPr>
          <a:xfrm>
            <a:off x="1112218" y="1258162"/>
            <a:ext cx="4324487" cy="1245524"/>
          </a:xfrm>
          <a:custGeom>
            <a:avLst/>
            <a:gdLst>
              <a:gd name="csX0" fmla="*/ 0 w 4324487"/>
              <a:gd name="csY0" fmla="*/ 0 h 1245524"/>
              <a:gd name="csX1" fmla="*/ 353167 w 4324487"/>
              <a:gd name="csY1" fmla="*/ 0 h 1245524"/>
              <a:gd name="csX2" fmla="*/ 720748 w 4324487"/>
              <a:gd name="csY2" fmla="*/ 0 h 1245524"/>
              <a:gd name="csX3" fmla="*/ 720748 w 4324487"/>
              <a:gd name="csY3" fmla="*/ 0 h 1245524"/>
              <a:gd name="csX4" fmla="*/ 1282931 w 4324487"/>
              <a:gd name="csY4" fmla="*/ 0 h 1245524"/>
              <a:gd name="csX5" fmla="*/ 1801870 w 4324487"/>
              <a:gd name="csY5" fmla="*/ 0 h 1245524"/>
              <a:gd name="csX6" fmla="*/ 2255941 w 4324487"/>
              <a:gd name="csY6" fmla="*/ 0 h 1245524"/>
              <a:gd name="csX7" fmla="*/ 2810917 w 4324487"/>
              <a:gd name="csY7" fmla="*/ 0 h 1245524"/>
              <a:gd name="csX8" fmla="*/ 3264988 w 4324487"/>
              <a:gd name="csY8" fmla="*/ 0 h 1245524"/>
              <a:gd name="csX9" fmla="*/ 3819964 w 4324487"/>
              <a:gd name="csY9" fmla="*/ 0 h 1245524"/>
              <a:gd name="csX10" fmla="*/ 4324487 w 4324487"/>
              <a:gd name="csY10" fmla="*/ 0 h 1245524"/>
              <a:gd name="csX11" fmla="*/ 4324487 w 4324487"/>
              <a:gd name="csY11" fmla="*/ 363278 h 1245524"/>
              <a:gd name="csX12" fmla="*/ 4324487 w 4324487"/>
              <a:gd name="csY12" fmla="*/ 726556 h 1245524"/>
              <a:gd name="csX13" fmla="*/ 4324487 w 4324487"/>
              <a:gd name="csY13" fmla="*/ 726556 h 1245524"/>
              <a:gd name="csX14" fmla="*/ 4324487 w 4324487"/>
              <a:gd name="csY14" fmla="*/ 1037937 h 1245524"/>
              <a:gd name="csX15" fmla="*/ 4324487 w 4324487"/>
              <a:gd name="csY15" fmla="*/ 1245524 h 1245524"/>
              <a:gd name="csX16" fmla="*/ 3819964 w 4324487"/>
              <a:gd name="csY16" fmla="*/ 1245524 h 1245524"/>
              <a:gd name="csX17" fmla="*/ 3340666 w 4324487"/>
              <a:gd name="csY17" fmla="*/ 1245524 h 1245524"/>
              <a:gd name="csX18" fmla="*/ 2911821 w 4324487"/>
              <a:gd name="csY18" fmla="*/ 1245524 h 1245524"/>
              <a:gd name="csX19" fmla="*/ 2457750 w 4324487"/>
              <a:gd name="csY19" fmla="*/ 1245524 h 1245524"/>
              <a:gd name="csX20" fmla="*/ 1801870 w 4324487"/>
              <a:gd name="csY20" fmla="*/ 1245524 h 1245524"/>
              <a:gd name="csX21" fmla="*/ 1398610 w 4324487"/>
              <a:gd name="csY21" fmla="*/ 1430435 h 1245524"/>
              <a:gd name="csX22" fmla="*/ 978891 w 4324487"/>
              <a:gd name="csY22" fmla="*/ 1622893 h 1245524"/>
              <a:gd name="csX23" fmla="*/ 720748 w 4324487"/>
              <a:gd name="csY23" fmla="*/ 1245524 h 1245524"/>
              <a:gd name="csX24" fmla="*/ 381996 w 4324487"/>
              <a:gd name="csY24" fmla="*/ 1245524 h 1245524"/>
              <a:gd name="csX25" fmla="*/ 0 w 4324487"/>
              <a:gd name="csY25" fmla="*/ 1245524 h 1245524"/>
              <a:gd name="csX26" fmla="*/ 0 w 4324487"/>
              <a:gd name="csY26" fmla="*/ 1037937 h 1245524"/>
              <a:gd name="csX27" fmla="*/ 0 w 4324487"/>
              <a:gd name="csY27" fmla="*/ 726556 h 1245524"/>
              <a:gd name="csX28" fmla="*/ 0 w 4324487"/>
              <a:gd name="csY28" fmla="*/ 726556 h 1245524"/>
              <a:gd name="csX29" fmla="*/ 0 w 4324487"/>
              <a:gd name="csY29" fmla="*/ 385075 h 1245524"/>
              <a:gd name="csX30" fmla="*/ 0 w 4324487"/>
              <a:gd name="csY30" fmla="*/ 0 h 12455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4324487" h="1245524" extrusionOk="0">
                <a:moveTo>
                  <a:pt x="0" y="0"/>
                </a:moveTo>
                <a:cubicBezTo>
                  <a:pt x="139125" y="-24689"/>
                  <a:pt x="225494" y="24730"/>
                  <a:pt x="353167" y="0"/>
                </a:cubicBezTo>
                <a:cubicBezTo>
                  <a:pt x="480840" y="-24730"/>
                  <a:pt x="549643" y="28476"/>
                  <a:pt x="720748" y="0"/>
                </a:cubicBezTo>
                <a:lnTo>
                  <a:pt x="720748" y="0"/>
                </a:lnTo>
                <a:cubicBezTo>
                  <a:pt x="996292" y="-62716"/>
                  <a:pt x="1066967" y="25030"/>
                  <a:pt x="1282931" y="0"/>
                </a:cubicBezTo>
                <a:cubicBezTo>
                  <a:pt x="1498895" y="-25030"/>
                  <a:pt x="1644332" y="43295"/>
                  <a:pt x="1801870" y="0"/>
                </a:cubicBezTo>
                <a:cubicBezTo>
                  <a:pt x="1923636" y="-45853"/>
                  <a:pt x="2030647" y="13754"/>
                  <a:pt x="2255941" y="0"/>
                </a:cubicBezTo>
                <a:cubicBezTo>
                  <a:pt x="2481235" y="-13754"/>
                  <a:pt x="2624549" y="40616"/>
                  <a:pt x="2810917" y="0"/>
                </a:cubicBezTo>
                <a:cubicBezTo>
                  <a:pt x="2997285" y="-40616"/>
                  <a:pt x="3127496" y="15587"/>
                  <a:pt x="3264988" y="0"/>
                </a:cubicBezTo>
                <a:cubicBezTo>
                  <a:pt x="3402480" y="-15587"/>
                  <a:pt x="3548848" y="12192"/>
                  <a:pt x="3819964" y="0"/>
                </a:cubicBezTo>
                <a:cubicBezTo>
                  <a:pt x="4091080" y="-12192"/>
                  <a:pt x="4171080" y="4311"/>
                  <a:pt x="4324487" y="0"/>
                </a:cubicBezTo>
                <a:cubicBezTo>
                  <a:pt x="4367519" y="124322"/>
                  <a:pt x="4305678" y="273465"/>
                  <a:pt x="4324487" y="363278"/>
                </a:cubicBezTo>
                <a:cubicBezTo>
                  <a:pt x="4343296" y="453091"/>
                  <a:pt x="4288724" y="623613"/>
                  <a:pt x="4324487" y="726556"/>
                </a:cubicBezTo>
                <a:lnTo>
                  <a:pt x="4324487" y="726556"/>
                </a:lnTo>
                <a:cubicBezTo>
                  <a:pt x="4360612" y="803213"/>
                  <a:pt x="4317216" y="914253"/>
                  <a:pt x="4324487" y="1037937"/>
                </a:cubicBezTo>
                <a:cubicBezTo>
                  <a:pt x="4325270" y="1126052"/>
                  <a:pt x="4313478" y="1196794"/>
                  <a:pt x="4324487" y="1245524"/>
                </a:cubicBezTo>
                <a:cubicBezTo>
                  <a:pt x="4162099" y="1269728"/>
                  <a:pt x="3932012" y="1216854"/>
                  <a:pt x="3819964" y="1245524"/>
                </a:cubicBezTo>
                <a:cubicBezTo>
                  <a:pt x="3707916" y="1274194"/>
                  <a:pt x="3512609" y="1221143"/>
                  <a:pt x="3340666" y="1245524"/>
                </a:cubicBezTo>
                <a:cubicBezTo>
                  <a:pt x="3168723" y="1269905"/>
                  <a:pt x="3055236" y="1228562"/>
                  <a:pt x="2911821" y="1245524"/>
                </a:cubicBezTo>
                <a:cubicBezTo>
                  <a:pt x="2768406" y="1262486"/>
                  <a:pt x="2596067" y="1245150"/>
                  <a:pt x="2457750" y="1245524"/>
                </a:cubicBezTo>
                <a:cubicBezTo>
                  <a:pt x="2319433" y="1245898"/>
                  <a:pt x="1961787" y="1228419"/>
                  <a:pt x="1801870" y="1245524"/>
                </a:cubicBezTo>
                <a:cubicBezTo>
                  <a:pt x="1676805" y="1351020"/>
                  <a:pt x="1465420" y="1362361"/>
                  <a:pt x="1398610" y="1430435"/>
                </a:cubicBezTo>
                <a:cubicBezTo>
                  <a:pt x="1331800" y="1498509"/>
                  <a:pt x="1117610" y="1526704"/>
                  <a:pt x="978891" y="1622893"/>
                </a:cubicBezTo>
                <a:cubicBezTo>
                  <a:pt x="832146" y="1478930"/>
                  <a:pt x="811188" y="1350545"/>
                  <a:pt x="720748" y="1245524"/>
                </a:cubicBezTo>
                <a:cubicBezTo>
                  <a:pt x="593853" y="1258400"/>
                  <a:pt x="498677" y="1231026"/>
                  <a:pt x="381996" y="1245524"/>
                </a:cubicBezTo>
                <a:cubicBezTo>
                  <a:pt x="265315" y="1260022"/>
                  <a:pt x="175118" y="1242472"/>
                  <a:pt x="0" y="1245524"/>
                </a:cubicBezTo>
                <a:cubicBezTo>
                  <a:pt x="-17004" y="1178583"/>
                  <a:pt x="4628" y="1092505"/>
                  <a:pt x="0" y="1037937"/>
                </a:cubicBezTo>
                <a:cubicBezTo>
                  <a:pt x="-34246" y="909570"/>
                  <a:pt x="12261" y="877546"/>
                  <a:pt x="0" y="726556"/>
                </a:cubicBezTo>
                <a:lnTo>
                  <a:pt x="0" y="726556"/>
                </a:lnTo>
                <a:cubicBezTo>
                  <a:pt x="-25896" y="594097"/>
                  <a:pt x="2827" y="477142"/>
                  <a:pt x="0" y="385075"/>
                </a:cubicBezTo>
                <a:cubicBezTo>
                  <a:pt x="-2827" y="293008"/>
                  <a:pt x="35123" y="185604"/>
                  <a:pt x="0" y="0"/>
                </a:cubicBezTo>
                <a:close/>
              </a:path>
            </a:pathLst>
          </a:custGeom>
          <a:noFill/>
          <a:ln w="3175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wedgeRectCallout">
                    <a:avLst>
                      <a:gd name="adj1" fmla="val -27364"/>
                      <a:gd name="adj2" fmla="val 80298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606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E5B4B6-FFA8-082D-1704-406500345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uster of stars in space&#10;&#10;AI-generated content may be incorrect.">
            <a:extLst>
              <a:ext uri="{FF2B5EF4-FFF2-40B4-BE49-F238E27FC236}">
                <a16:creationId xmlns:a16="http://schemas.microsoft.com/office/drawing/2014/main" id="{39B244EA-8F6F-C802-E8C9-33D47ACA66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240" t="30573" r="32794" b="33198"/>
          <a:stretch>
            <a:fillRect/>
          </a:stretch>
        </p:blipFill>
        <p:spPr>
          <a:xfrm>
            <a:off x="1133776" y="2954460"/>
            <a:ext cx="2105892" cy="20377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DF4DAF-EEBB-ECB7-2261-8DC4CBAF223D}"/>
              </a:ext>
            </a:extLst>
          </p:cNvPr>
          <p:cNvSpPr txBox="1"/>
          <p:nvPr/>
        </p:nvSpPr>
        <p:spPr>
          <a:xfrm>
            <a:off x="766618" y="378691"/>
            <a:ext cx="5449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story of NGC 288, a “Globular Cluster”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558E0B7-9003-857E-8C81-A7AE6CD61A47}"/>
              </a:ext>
            </a:extLst>
          </p:cNvPr>
          <p:cNvCxnSpPr>
            <a:cxnSpLocks/>
          </p:cNvCxnSpPr>
          <p:nvPr/>
        </p:nvCxnSpPr>
        <p:spPr>
          <a:xfrm flipV="1">
            <a:off x="3346529" y="3304569"/>
            <a:ext cx="2022425" cy="780870"/>
          </a:xfrm>
          <a:prstGeom prst="straightConnector1">
            <a:avLst/>
          </a:prstGeom>
          <a:ln w="1333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F80F6ED-834D-C5CE-ED3F-D460019DFB9A}"/>
              </a:ext>
            </a:extLst>
          </p:cNvPr>
          <p:cNvSpPr txBox="1"/>
          <p:nvPr/>
        </p:nvSpPr>
        <p:spPr>
          <a:xfrm>
            <a:off x="0" y="6504295"/>
            <a:ext cx="19673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NGC 288 image credit: </a:t>
            </a:r>
            <a:r>
              <a:rPr lang="en-US" sz="800" dirty="0">
                <a:solidFill>
                  <a:schemeClr val="bg1"/>
                </a:solidFill>
                <a:hlinkClick r:id="rId3"/>
              </a:rPr>
              <a:t>https://telescopius.com</a:t>
            </a:r>
            <a:endParaRPr lang="en-US" sz="800" dirty="0">
              <a:solidFill>
                <a:schemeClr val="bg1"/>
              </a:solidFill>
            </a:endParaRPr>
          </a:p>
        </p:txBody>
      </p:sp>
      <p:pic>
        <p:nvPicPr>
          <p:cNvPr id="8" name="Picture 7" descr="A cluster of stars in space&#10;&#10;AI-generated content may be incorrect.">
            <a:extLst>
              <a:ext uri="{FF2B5EF4-FFF2-40B4-BE49-F238E27FC236}">
                <a16:creationId xmlns:a16="http://schemas.microsoft.com/office/drawing/2014/main" id="{CA58810F-2DA6-D36D-CDFF-191D6727F2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240" t="30573" r="32794" b="33198"/>
          <a:stretch>
            <a:fillRect/>
          </a:stretch>
        </p:blipFill>
        <p:spPr>
          <a:xfrm rot="1016369">
            <a:off x="5687877" y="1673019"/>
            <a:ext cx="2105892" cy="2037716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A16D6A3-7102-D886-9760-8F1BDF28C768}"/>
              </a:ext>
            </a:extLst>
          </p:cNvPr>
          <p:cNvCxnSpPr>
            <a:cxnSpLocks/>
          </p:cNvCxnSpPr>
          <p:nvPr/>
        </p:nvCxnSpPr>
        <p:spPr>
          <a:xfrm flipV="1">
            <a:off x="841910" y="1736436"/>
            <a:ext cx="0" cy="376843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07057BB-9DE5-75E6-088C-6D0D3EC1E894}"/>
              </a:ext>
            </a:extLst>
          </p:cNvPr>
          <p:cNvCxnSpPr>
            <a:cxnSpLocks/>
          </p:cNvCxnSpPr>
          <p:nvPr/>
        </p:nvCxnSpPr>
        <p:spPr>
          <a:xfrm>
            <a:off x="831273" y="5504873"/>
            <a:ext cx="6139821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CE75AB0-5DD2-36BA-873A-E3F362959557}"/>
              </a:ext>
            </a:extLst>
          </p:cNvPr>
          <p:cNvSpPr txBox="1"/>
          <p:nvPr/>
        </p:nvSpPr>
        <p:spPr>
          <a:xfrm rot="19815555">
            <a:off x="348497" y="3334138"/>
            <a:ext cx="581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EF2EEE1-B763-F703-D318-0BE3E86863BA}"/>
              </a:ext>
            </a:extLst>
          </p:cNvPr>
          <p:cNvSpPr txBox="1"/>
          <p:nvPr/>
        </p:nvSpPr>
        <p:spPr>
          <a:xfrm>
            <a:off x="3426693" y="5677436"/>
            <a:ext cx="729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DEC</a:t>
            </a:r>
          </a:p>
        </p:txBody>
      </p:sp>
      <p:sp>
        <p:nvSpPr>
          <p:cNvPr id="36" name="Rectangle 1">
            <a:extLst>
              <a:ext uri="{FF2B5EF4-FFF2-40B4-BE49-F238E27FC236}">
                <a16:creationId xmlns:a16="http://schemas.microsoft.com/office/drawing/2014/main" id="{A473395D-E654-F694-FC63-53174E595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9578" y="636682"/>
            <a:ext cx="316807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3E3E3"/>
                </a:solidFill>
                <a:effectLst/>
                <a:latin typeface="Google Sans Text"/>
              </a:rPr>
              <a:t>proper motion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3E3E3"/>
                </a:solidFill>
                <a:effectLst/>
                <a:latin typeface="Google Sans Text"/>
              </a:rPr>
              <a:t>: the apparent movement of a star across the sky over time (measured in milliarcseconds per year, or mas/yr).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A1D0226-38D4-63B1-D000-010C1BAD8455}"/>
              </a:ext>
            </a:extLst>
          </p:cNvPr>
          <p:cNvSpPr txBox="1"/>
          <p:nvPr/>
        </p:nvSpPr>
        <p:spPr>
          <a:xfrm>
            <a:off x="1109767" y="1461574"/>
            <a:ext cx="434486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Dense, gravitationally bound system of stars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Include thousands to millions of stars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Orbit galaxies (like the Milky Way)</a:t>
            </a:r>
          </a:p>
          <a:p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5" name="Rectangular Callout 44">
            <a:extLst>
              <a:ext uri="{FF2B5EF4-FFF2-40B4-BE49-F238E27FC236}">
                <a16:creationId xmlns:a16="http://schemas.microsoft.com/office/drawing/2014/main" id="{05F7F822-C378-4B4F-7120-8F27B0A9A47B}"/>
              </a:ext>
            </a:extLst>
          </p:cNvPr>
          <p:cNvSpPr/>
          <p:nvPr/>
        </p:nvSpPr>
        <p:spPr>
          <a:xfrm>
            <a:off x="1112218" y="1258162"/>
            <a:ext cx="4324487" cy="1245524"/>
          </a:xfrm>
          <a:custGeom>
            <a:avLst/>
            <a:gdLst>
              <a:gd name="csX0" fmla="*/ 0 w 4324487"/>
              <a:gd name="csY0" fmla="*/ 0 h 1245524"/>
              <a:gd name="csX1" fmla="*/ 353167 w 4324487"/>
              <a:gd name="csY1" fmla="*/ 0 h 1245524"/>
              <a:gd name="csX2" fmla="*/ 720748 w 4324487"/>
              <a:gd name="csY2" fmla="*/ 0 h 1245524"/>
              <a:gd name="csX3" fmla="*/ 720748 w 4324487"/>
              <a:gd name="csY3" fmla="*/ 0 h 1245524"/>
              <a:gd name="csX4" fmla="*/ 1282931 w 4324487"/>
              <a:gd name="csY4" fmla="*/ 0 h 1245524"/>
              <a:gd name="csX5" fmla="*/ 1801870 w 4324487"/>
              <a:gd name="csY5" fmla="*/ 0 h 1245524"/>
              <a:gd name="csX6" fmla="*/ 2255941 w 4324487"/>
              <a:gd name="csY6" fmla="*/ 0 h 1245524"/>
              <a:gd name="csX7" fmla="*/ 2810917 w 4324487"/>
              <a:gd name="csY7" fmla="*/ 0 h 1245524"/>
              <a:gd name="csX8" fmla="*/ 3264988 w 4324487"/>
              <a:gd name="csY8" fmla="*/ 0 h 1245524"/>
              <a:gd name="csX9" fmla="*/ 3819964 w 4324487"/>
              <a:gd name="csY9" fmla="*/ 0 h 1245524"/>
              <a:gd name="csX10" fmla="*/ 4324487 w 4324487"/>
              <a:gd name="csY10" fmla="*/ 0 h 1245524"/>
              <a:gd name="csX11" fmla="*/ 4324487 w 4324487"/>
              <a:gd name="csY11" fmla="*/ 363278 h 1245524"/>
              <a:gd name="csX12" fmla="*/ 4324487 w 4324487"/>
              <a:gd name="csY12" fmla="*/ 726556 h 1245524"/>
              <a:gd name="csX13" fmla="*/ 4324487 w 4324487"/>
              <a:gd name="csY13" fmla="*/ 726556 h 1245524"/>
              <a:gd name="csX14" fmla="*/ 4324487 w 4324487"/>
              <a:gd name="csY14" fmla="*/ 1037937 h 1245524"/>
              <a:gd name="csX15" fmla="*/ 4324487 w 4324487"/>
              <a:gd name="csY15" fmla="*/ 1245524 h 1245524"/>
              <a:gd name="csX16" fmla="*/ 3819964 w 4324487"/>
              <a:gd name="csY16" fmla="*/ 1245524 h 1245524"/>
              <a:gd name="csX17" fmla="*/ 3340666 w 4324487"/>
              <a:gd name="csY17" fmla="*/ 1245524 h 1245524"/>
              <a:gd name="csX18" fmla="*/ 2911821 w 4324487"/>
              <a:gd name="csY18" fmla="*/ 1245524 h 1245524"/>
              <a:gd name="csX19" fmla="*/ 2457750 w 4324487"/>
              <a:gd name="csY19" fmla="*/ 1245524 h 1245524"/>
              <a:gd name="csX20" fmla="*/ 1801870 w 4324487"/>
              <a:gd name="csY20" fmla="*/ 1245524 h 1245524"/>
              <a:gd name="csX21" fmla="*/ 1398610 w 4324487"/>
              <a:gd name="csY21" fmla="*/ 1430435 h 1245524"/>
              <a:gd name="csX22" fmla="*/ 978891 w 4324487"/>
              <a:gd name="csY22" fmla="*/ 1622893 h 1245524"/>
              <a:gd name="csX23" fmla="*/ 720748 w 4324487"/>
              <a:gd name="csY23" fmla="*/ 1245524 h 1245524"/>
              <a:gd name="csX24" fmla="*/ 381996 w 4324487"/>
              <a:gd name="csY24" fmla="*/ 1245524 h 1245524"/>
              <a:gd name="csX25" fmla="*/ 0 w 4324487"/>
              <a:gd name="csY25" fmla="*/ 1245524 h 1245524"/>
              <a:gd name="csX26" fmla="*/ 0 w 4324487"/>
              <a:gd name="csY26" fmla="*/ 1037937 h 1245524"/>
              <a:gd name="csX27" fmla="*/ 0 w 4324487"/>
              <a:gd name="csY27" fmla="*/ 726556 h 1245524"/>
              <a:gd name="csX28" fmla="*/ 0 w 4324487"/>
              <a:gd name="csY28" fmla="*/ 726556 h 1245524"/>
              <a:gd name="csX29" fmla="*/ 0 w 4324487"/>
              <a:gd name="csY29" fmla="*/ 385075 h 1245524"/>
              <a:gd name="csX30" fmla="*/ 0 w 4324487"/>
              <a:gd name="csY30" fmla="*/ 0 h 12455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4324487" h="1245524" extrusionOk="0">
                <a:moveTo>
                  <a:pt x="0" y="0"/>
                </a:moveTo>
                <a:cubicBezTo>
                  <a:pt x="139125" y="-24689"/>
                  <a:pt x="225494" y="24730"/>
                  <a:pt x="353167" y="0"/>
                </a:cubicBezTo>
                <a:cubicBezTo>
                  <a:pt x="480840" y="-24730"/>
                  <a:pt x="549643" y="28476"/>
                  <a:pt x="720748" y="0"/>
                </a:cubicBezTo>
                <a:lnTo>
                  <a:pt x="720748" y="0"/>
                </a:lnTo>
                <a:cubicBezTo>
                  <a:pt x="996292" y="-62716"/>
                  <a:pt x="1066967" y="25030"/>
                  <a:pt x="1282931" y="0"/>
                </a:cubicBezTo>
                <a:cubicBezTo>
                  <a:pt x="1498895" y="-25030"/>
                  <a:pt x="1644332" y="43295"/>
                  <a:pt x="1801870" y="0"/>
                </a:cubicBezTo>
                <a:cubicBezTo>
                  <a:pt x="1923636" y="-45853"/>
                  <a:pt x="2030647" y="13754"/>
                  <a:pt x="2255941" y="0"/>
                </a:cubicBezTo>
                <a:cubicBezTo>
                  <a:pt x="2481235" y="-13754"/>
                  <a:pt x="2624549" y="40616"/>
                  <a:pt x="2810917" y="0"/>
                </a:cubicBezTo>
                <a:cubicBezTo>
                  <a:pt x="2997285" y="-40616"/>
                  <a:pt x="3127496" y="15587"/>
                  <a:pt x="3264988" y="0"/>
                </a:cubicBezTo>
                <a:cubicBezTo>
                  <a:pt x="3402480" y="-15587"/>
                  <a:pt x="3548848" y="12192"/>
                  <a:pt x="3819964" y="0"/>
                </a:cubicBezTo>
                <a:cubicBezTo>
                  <a:pt x="4091080" y="-12192"/>
                  <a:pt x="4171080" y="4311"/>
                  <a:pt x="4324487" y="0"/>
                </a:cubicBezTo>
                <a:cubicBezTo>
                  <a:pt x="4367519" y="124322"/>
                  <a:pt x="4305678" y="273465"/>
                  <a:pt x="4324487" y="363278"/>
                </a:cubicBezTo>
                <a:cubicBezTo>
                  <a:pt x="4343296" y="453091"/>
                  <a:pt x="4288724" y="623613"/>
                  <a:pt x="4324487" y="726556"/>
                </a:cubicBezTo>
                <a:lnTo>
                  <a:pt x="4324487" y="726556"/>
                </a:lnTo>
                <a:cubicBezTo>
                  <a:pt x="4360612" y="803213"/>
                  <a:pt x="4317216" y="914253"/>
                  <a:pt x="4324487" y="1037937"/>
                </a:cubicBezTo>
                <a:cubicBezTo>
                  <a:pt x="4325270" y="1126052"/>
                  <a:pt x="4313478" y="1196794"/>
                  <a:pt x="4324487" y="1245524"/>
                </a:cubicBezTo>
                <a:cubicBezTo>
                  <a:pt x="4162099" y="1269728"/>
                  <a:pt x="3932012" y="1216854"/>
                  <a:pt x="3819964" y="1245524"/>
                </a:cubicBezTo>
                <a:cubicBezTo>
                  <a:pt x="3707916" y="1274194"/>
                  <a:pt x="3512609" y="1221143"/>
                  <a:pt x="3340666" y="1245524"/>
                </a:cubicBezTo>
                <a:cubicBezTo>
                  <a:pt x="3168723" y="1269905"/>
                  <a:pt x="3055236" y="1228562"/>
                  <a:pt x="2911821" y="1245524"/>
                </a:cubicBezTo>
                <a:cubicBezTo>
                  <a:pt x="2768406" y="1262486"/>
                  <a:pt x="2596067" y="1245150"/>
                  <a:pt x="2457750" y="1245524"/>
                </a:cubicBezTo>
                <a:cubicBezTo>
                  <a:pt x="2319433" y="1245898"/>
                  <a:pt x="1961787" y="1228419"/>
                  <a:pt x="1801870" y="1245524"/>
                </a:cubicBezTo>
                <a:cubicBezTo>
                  <a:pt x="1676805" y="1351020"/>
                  <a:pt x="1465420" y="1362361"/>
                  <a:pt x="1398610" y="1430435"/>
                </a:cubicBezTo>
                <a:cubicBezTo>
                  <a:pt x="1331800" y="1498509"/>
                  <a:pt x="1117610" y="1526704"/>
                  <a:pt x="978891" y="1622893"/>
                </a:cubicBezTo>
                <a:cubicBezTo>
                  <a:pt x="832146" y="1478930"/>
                  <a:pt x="811188" y="1350545"/>
                  <a:pt x="720748" y="1245524"/>
                </a:cubicBezTo>
                <a:cubicBezTo>
                  <a:pt x="593853" y="1258400"/>
                  <a:pt x="498677" y="1231026"/>
                  <a:pt x="381996" y="1245524"/>
                </a:cubicBezTo>
                <a:cubicBezTo>
                  <a:pt x="265315" y="1260022"/>
                  <a:pt x="175118" y="1242472"/>
                  <a:pt x="0" y="1245524"/>
                </a:cubicBezTo>
                <a:cubicBezTo>
                  <a:pt x="-17004" y="1178583"/>
                  <a:pt x="4628" y="1092505"/>
                  <a:pt x="0" y="1037937"/>
                </a:cubicBezTo>
                <a:cubicBezTo>
                  <a:pt x="-34246" y="909570"/>
                  <a:pt x="12261" y="877546"/>
                  <a:pt x="0" y="726556"/>
                </a:cubicBezTo>
                <a:lnTo>
                  <a:pt x="0" y="726556"/>
                </a:lnTo>
                <a:cubicBezTo>
                  <a:pt x="-25896" y="594097"/>
                  <a:pt x="2827" y="477142"/>
                  <a:pt x="0" y="385075"/>
                </a:cubicBezTo>
                <a:cubicBezTo>
                  <a:pt x="-2827" y="293008"/>
                  <a:pt x="35123" y="185604"/>
                  <a:pt x="0" y="0"/>
                </a:cubicBezTo>
                <a:close/>
              </a:path>
            </a:pathLst>
          </a:custGeom>
          <a:noFill/>
          <a:ln w="3175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wedgeRectCallout">
                    <a:avLst>
                      <a:gd name="adj1" fmla="val -27364"/>
                      <a:gd name="adj2" fmla="val 80298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632E753-7120-B8B4-DB18-74B8D076E3B5}"/>
              </a:ext>
            </a:extLst>
          </p:cNvPr>
          <p:cNvSpPr txBox="1"/>
          <p:nvPr/>
        </p:nvSpPr>
        <p:spPr>
          <a:xfrm>
            <a:off x="5227784" y="4475097"/>
            <a:ext cx="34359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These stars formed together/move together         this is our key statistical signal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AED3EC2-AE09-00B7-2BE2-D3CE9F345F3D}"/>
              </a:ext>
            </a:extLst>
          </p:cNvPr>
          <p:cNvCxnSpPr/>
          <p:nvPr/>
        </p:nvCxnSpPr>
        <p:spPr>
          <a:xfrm>
            <a:off x="6012873" y="4849091"/>
            <a:ext cx="203200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2120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804C56-F1B4-5390-B958-0A3C71E2B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uster of stars in space&#10;&#10;AI-generated content may be incorrect.">
            <a:extLst>
              <a:ext uri="{FF2B5EF4-FFF2-40B4-BE49-F238E27FC236}">
                <a16:creationId xmlns:a16="http://schemas.microsoft.com/office/drawing/2014/main" id="{5EA34E41-F5EC-B56A-F5C3-7E827D7662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240" t="30573" r="32794" b="33198"/>
          <a:stretch>
            <a:fillRect/>
          </a:stretch>
        </p:blipFill>
        <p:spPr>
          <a:xfrm>
            <a:off x="1133776" y="2954460"/>
            <a:ext cx="2105892" cy="20377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1523E72-62AE-578B-E8E9-84E1AC9A4AF7}"/>
              </a:ext>
            </a:extLst>
          </p:cNvPr>
          <p:cNvSpPr txBox="1"/>
          <p:nvPr/>
        </p:nvSpPr>
        <p:spPr>
          <a:xfrm>
            <a:off x="766618" y="378691"/>
            <a:ext cx="5449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story of NGC 288, a “Globular Cluster”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8DA7883-D18F-086A-AB03-DA8FE00EEE34}"/>
              </a:ext>
            </a:extLst>
          </p:cNvPr>
          <p:cNvCxnSpPr>
            <a:cxnSpLocks/>
          </p:cNvCxnSpPr>
          <p:nvPr/>
        </p:nvCxnSpPr>
        <p:spPr>
          <a:xfrm flipV="1">
            <a:off x="3346529" y="3304569"/>
            <a:ext cx="2022425" cy="780870"/>
          </a:xfrm>
          <a:prstGeom prst="straightConnector1">
            <a:avLst/>
          </a:prstGeom>
          <a:ln w="1333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1DFD239-7D76-8162-9580-9DEA0F237876}"/>
              </a:ext>
            </a:extLst>
          </p:cNvPr>
          <p:cNvSpPr txBox="1"/>
          <p:nvPr/>
        </p:nvSpPr>
        <p:spPr>
          <a:xfrm>
            <a:off x="0" y="6504295"/>
            <a:ext cx="19673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NGC 288 image credit: </a:t>
            </a:r>
            <a:r>
              <a:rPr lang="en-US" sz="800" dirty="0">
                <a:solidFill>
                  <a:schemeClr val="bg1"/>
                </a:solidFill>
                <a:hlinkClick r:id="rId3"/>
              </a:rPr>
              <a:t>https://telescopius.com</a:t>
            </a:r>
            <a:endParaRPr lang="en-US" sz="800" dirty="0">
              <a:solidFill>
                <a:schemeClr val="bg1"/>
              </a:solidFill>
            </a:endParaRPr>
          </a:p>
        </p:txBody>
      </p:sp>
      <p:pic>
        <p:nvPicPr>
          <p:cNvPr id="8" name="Picture 7" descr="A cluster of stars in space&#10;&#10;AI-generated content may be incorrect.">
            <a:extLst>
              <a:ext uri="{FF2B5EF4-FFF2-40B4-BE49-F238E27FC236}">
                <a16:creationId xmlns:a16="http://schemas.microsoft.com/office/drawing/2014/main" id="{1D6BF869-0D47-D8A7-962B-03F4B1594E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240" t="30573" r="32794" b="33198"/>
          <a:stretch>
            <a:fillRect/>
          </a:stretch>
        </p:blipFill>
        <p:spPr>
          <a:xfrm rot="1016369">
            <a:off x="5687877" y="1673019"/>
            <a:ext cx="2105892" cy="2037716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76670EB-AA8A-C30C-CA89-CC25F0823C6A}"/>
              </a:ext>
            </a:extLst>
          </p:cNvPr>
          <p:cNvCxnSpPr/>
          <p:nvPr/>
        </p:nvCxnSpPr>
        <p:spPr>
          <a:xfrm>
            <a:off x="7038109" y="2382982"/>
            <a:ext cx="267855" cy="308895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BF06FE3-44F2-F699-E31C-D417578C4AAD}"/>
              </a:ext>
            </a:extLst>
          </p:cNvPr>
          <p:cNvCxnSpPr>
            <a:cxnSpLocks/>
          </p:cNvCxnSpPr>
          <p:nvPr/>
        </p:nvCxnSpPr>
        <p:spPr>
          <a:xfrm flipH="1">
            <a:off x="6950363" y="2997200"/>
            <a:ext cx="244764" cy="2046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E9295A2-514C-C303-E099-CB31F819E1A3}"/>
              </a:ext>
            </a:extLst>
          </p:cNvPr>
          <p:cNvCxnSpPr/>
          <p:nvPr/>
        </p:nvCxnSpPr>
        <p:spPr>
          <a:xfrm>
            <a:off x="6345466" y="2634647"/>
            <a:ext cx="267855" cy="308895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424AD18-BD15-936D-F3F0-512E12B94CEE}"/>
              </a:ext>
            </a:extLst>
          </p:cNvPr>
          <p:cNvCxnSpPr>
            <a:cxnSpLocks/>
          </p:cNvCxnSpPr>
          <p:nvPr/>
        </p:nvCxnSpPr>
        <p:spPr>
          <a:xfrm flipV="1">
            <a:off x="6682508" y="2382982"/>
            <a:ext cx="116631" cy="159588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59CBD25-A221-3E4C-450A-8118A2791F2D}"/>
              </a:ext>
            </a:extLst>
          </p:cNvPr>
          <p:cNvCxnSpPr>
            <a:cxnSpLocks/>
          </p:cNvCxnSpPr>
          <p:nvPr/>
        </p:nvCxnSpPr>
        <p:spPr>
          <a:xfrm flipV="1">
            <a:off x="6569364" y="2004291"/>
            <a:ext cx="108442" cy="28142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F0B8A4D-A674-6D6A-1FCC-5BBAC60AC629}"/>
              </a:ext>
            </a:extLst>
          </p:cNvPr>
          <p:cNvCxnSpPr>
            <a:cxnSpLocks/>
          </p:cNvCxnSpPr>
          <p:nvPr/>
        </p:nvCxnSpPr>
        <p:spPr>
          <a:xfrm>
            <a:off x="6479393" y="3304569"/>
            <a:ext cx="319746" cy="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1E8C5C6-EFF2-6A06-8242-D523DB1827B7}"/>
              </a:ext>
            </a:extLst>
          </p:cNvPr>
          <p:cNvCxnSpPr>
            <a:cxnSpLocks/>
          </p:cNvCxnSpPr>
          <p:nvPr/>
        </p:nvCxnSpPr>
        <p:spPr>
          <a:xfrm flipV="1">
            <a:off x="841910" y="1736436"/>
            <a:ext cx="0" cy="376843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26FC883-42DB-EA48-EDE0-16CA36E8D720}"/>
              </a:ext>
            </a:extLst>
          </p:cNvPr>
          <p:cNvCxnSpPr>
            <a:cxnSpLocks/>
          </p:cNvCxnSpPr>
          <p:nvPr/>
        </p:nvCxnSpPr>
        <p:spPr>
          <a:xfrm>
            <a:off x="831273" y="5504873"/>
            <a:ext cx="6139821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273DFC0-8955-A19A-8859-2049C479E7F0}"/>
              </a:ext>
            </a:extLst>
          </p:cNvPr>
          <p:cNvSpPr txBox="1"/>
          <p:nvPr/>
        </p:nvSpPr>
        <p:spPr>
          <a:xfrm rot="19815555">
            <a:off x="348497" y="3334138"/>
            <a:ext cx="581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121179-86E5-C374-1502-9E35E9F045DD}"/>
              </a:ext>
            </a:extLst>
          </p:cNvPr>
          <p:cNvSpPr txBox="1"/>
          <p:nvPr/>
        </p:nvSpPr>
        <p:spPr>
          <a:xfrm>
            <a:off x="3426693" y="5677436"/>
            <a:ext cx="729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DEC</a:t>
            </a:r>
          </a:p>
        </p:txBody>
      </p:sp>
      <p:sp>
        <p:nvSpPr>
          <p:cNvPr id="36" name="Rectangle 1">
            <a:extLst>
              <a:ext uri="{FF2B5EF4-FFF2-40B4-BE49-F238E27FC236}">
                <a16:creationId xmlns:a16="http://schemas.microsoft.com/office/drawing/2014/main" id="{0AEFBC35-8920-38F1-5EC1-82F45AA87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9578" y="636682"/>
            <a:ext cx="316807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3E3E3"/>
                </a:solidFill>
                <a:effectLst/>
                <a:latin typeface="Google Sans Text"/>
              </a:rPr>
              <a:t>proper motion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3E3E3"/>
                </a:solidFill>
                <a:effectLst/>
                <a:latin typeface="Google Sans Text"/>
              </a:rPr>
              <a:t>: the apparent movement of a star across the sky over time (measured in milliarcseconds per year, or mas/yr).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C0887A51-DD3F-4FED-B934-063EE8F666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0543" y="2021719"/>
            <a:ext cx="3606800" cy="274320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F8168D58-589B-4FC9-9E9E-E2DB3C50FB1C}"/>
              </a:ext>
            </a:extLst>
          </p:cNvPr>
          <p:cNvSpPr txBox="1"/>
          <p:nvPr/>
        </p:nvSpPr>
        <p:spPr>
          <a:xfrm>
            <a:off x="1109767" y="1461574"/>
            <a:ext cx="434486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Dense, gravitationally bound system of stars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Include thousands to millions of stars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Orbit galaxies (like the Milky Way)</a:t>
            </a:r>
          </a:p>
          <a:p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5" name="Rectangular Callout 44">
            <a:extLst>
              <a:ext uri="{FF2B5EF4-FFF2-40B4-BE49-F238E27FC236}">
                <a16:creationId xmlns:a16="http://schemas.microsoft.com/office/drawing/2014/main" id="{55F3D604-D834-35EF-741B-A47C17B31A73}"/>
              </a:ext>
            </a:extLst>
          </p:cNvPr>
          <p:cNvSpPr/>
          <p:nvPr/>
        </p:nvSpPr>
        <p:spPr>
          <a:xfrm>
            <a:off x="1112218" y="1258162"/>
            <a:ext cx="4324487" cy="1245524"/>
          </a:xfrm>
          <a:custGeom>
            <a:avLst/>
            <a:gdLst>
              <a:gd name="csX0" fmla="*/ 0 w 4324487"/>
              <a:gd name="csY0" fmla="*/ 0 h 1245524"/>
              <a:gd name="csX1" fmla="*/ 353167 w 4324487"/>
              <a:gd name="csY1" fmla="*/ 0 h 1245524"/>
              <a:gd name="csX2" fmla="*/ 720748 w 4324487"/>
              <a:gd name="csY2" fmla="*/ 0 h 1245524"/>
              <a:gd name="csX3" fmla="*/ 720748 w 4324487"/>
              <a:gd name="csY3" fmla="*/ 0 h 1245524"/>
              <a:gd name="csX4" fmla="*/ 1282931 w 4324487"/>
              <a:gd name="csY4" fmla="*/ 0 h 1245524"/>
              <a:gd name="csX5" fmla="*/ 1801870 w 4324487"/>
              <a:gd name="csY5" fmla="*/ 0 h 1245524"/>
              <a:gd name="csX6" fmla="*/ 2255941 w 4324487"/>
              <a:gd name="csY6" fmla="*/ 0 h 1245524"/>
              <a:gd name="csX7" fmla="*/ 2810917 w 4324487"/>
              <a:gd name="csY7" fmla="*/ 0 h 1245524"/>
              <a:gd name="csX8" fmla="*/ 3264988 w 4324487"/>
              <a:gd name="csY8" fmla="*/ 0 h 1245524"/>
              <a:gd name="csX9" fmla="*/ 3819964 w 4324487"/>
              <a:gd name="csY9" fmla="*/ 0 h 1245524"/>
              <a:gd name="csX10" fmla="*/ 4324487 w 4324487"/>
              <a:gd name="csY10" fmla="*/ 0 h 1245524"/>
              <a:gd name="csX11" fmla="*/ 4324487 w 4324487"/>
              <a:gd name="csY11" fmla="*/ 363278 h 1245524"/>
              <a:gd name="csX12" fmla="*/ 4324487 w 4324487"/>
              <a:gd name="csY12" fmla="*/ 726556 h 1245524"/>
              <a:gd name="csX13" fmla="*/ 4324487 w 4324487"/>
              <a:gd name="csY13" fmla="*/ 726556 h 1245524"/>
              <a:gd name="csX14" fmla="*/ 4324487 w 4324487"/>
              <a:gd name="csY14" fmla="*/ 1037937 h 1245524"/>
              <a:gd name="csX15" fmla="*/ 4324487 w 4324487"/>
              <a:gd name="csY15" fmla="*/ 1245524 h 1245524"/>
              <a:gd name="csX16" fmla="*/ 3819964 w 4324487"/>
              <a:gd name="csY16" fmla="*/ 1245524 h 1245524"/>
              <a:gd name="csX17" fmla="*/ 3340666 w 4324487"/>
              <a:gd name="csY17" fmla="*/ 1245524 h 1245524"/>
              <a:gd name="csX18" fmla="*/ 2911821 w 4324487"/>
              <a:gd name="csY18" fmla="*/ 1245524 h 1245524"/>
              <a:gd name="csX19" fmla="*/ 2457750 w 4324487"/>
              <a:gd name="csY19" fmla="*/ 1245524 h 1245524"/>
              <a:gd name="csX20" fmla="*/ 1801870 w 4324487"/>
              <a:gd name="csY20" fmla="*/ 1245524 h 1245524"/>
              <a:gd name="csX21" fmla="*/ 1398610 w 4324487"/>
              <a:gd name="csY21" fmla="*/ 1430435 h 1245524"/>
              <a:gd name="csX22" fmla="*/ 978891 w 4324487"/>
              <a:gd name="csY22" fmla="*/ 1622893 h 1245524"/>
              <a:gd name="csX23" fmla="*/ 720748 w 4324487"/>
              <a:gd name="csY23" fmla="*/ 1245524 h 1245524"/>
              <a:gd name="csX24" fmla="*/ 381996 w 4324487"/>
              <a:gd name="csY24" fmla="*/ 1245524 h 1245524"/>
              <a:gd name="csX25" fmla="*/ 0 w 4324487"/>
              <a:gd name="csY25" fmla="*/ 1245524 h 1245524"/>
              <a:gd name="csX26" fmla="*/ 0 w 4324487"/>
              <a:gd name="csY26" fmla="*/ 1037937 h 1245524"/>
              <a:gd name="csX27" fmla="*/ 0 w 4324487"/>
              <a:gd name="csY27" fmla="*/ 726556 h 1245524"/>
              <a:gd name="csX28" fmla="*/ 0 w 4324487"/>
              <a:gd name="csY28" fmla="*/ 726556 h 1245524"/>
              <a:gd name="csX29" fmla="*/ 0 w 4324487"/>
              <a:gd name="csY29" fmla="*/ 385075 h 1245524"/>
              <a:gd name="csX30" fmla="*/ 0 w 4324487"/>
              <a:gd name="csY30" fmla="*/ 0 h 12455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4324487" h="1245524" extrusionOk="0">
                <a:moveTo>
                  <a:pt x="0" y="0"/>
                </a:moveTo>
                <a:cubicBezTo>
                  <a:pt x="139125" y="-24689"/>
                  <a:pt x="225494" y="24730"/>
                  <a:pt x="353167" y="0"/>
                </a:cubicBezTo>
                <a:cubicBezTo>
                  <a:pt x="480840" y="-24730"/>
                  <a:pt x="549643" y="28476"/>
                  <a:pt x="720748" y="0"/>
                </a:cubicBezTo>
                <a:lnTo>
                  <a:pt x="720748" y="0"/>
                </a:lnTo>
                <a:cubicBezTo>
                  <a:pt x="996292" y="-62716"/>
                  <a:pt x="1066967" y="25030"/>
                  <a:pt x="1282931" y="0"/>
                </a:cubicBezTo>
                <a:cubicBezTo>
                  <a:pt x="1498895" y="-25030"/>
                  <a:pt x="1644332" y="43295"/>
                  <a:pt x="1801870" y="0"/>
                </a:cubicBezTo>
                <a:cubicBezTo>
                  <a:pt x="1923636" y="-45853"/>
                  <a:pt x="2030647" y="13754"/>
                  <a:pt x="2255941" y="0"/>
                </a:cubicBezTo>
                <a:cubicBezTo>
                  <a:pt x="2481235" y="-13754"/>
                  <a:pt x="2624549" y="40616"/>
                  <a:pt x="2810917" y="0"/>
                </a:cubicBezTo>
                <a:cubicBezTo>
                  <a:pt x="2997285" y="-40616"/>
                  <a:pt x="3127496" y="15587"/>
                  <a:pt x="3264988" y="0"/>
                </a:cubicBezTo>
                <a:cubicBezTo>
                  <a:pt x="3402480" y="-15587"/>
                  <a:pt x="3548848" y="12192"/>
                  <a:pt x="3819964" y="0"/>
                </a:cubicBezTo>
                <a:cubicBezTo>
                  <a:pt x="4091080" y="-12192"/>
                  <a:pt x="4171080" y="4311"/>
                  <a:pt x="4324487" y="0"/>
                </a:cubicBezTo>
                <a:cubicBezTo>
                  <a:pt x="4367519" y="124322"/>
                  <a:pt x="4305678" y="273465"/>
                  <a:pt x="4324487" y="363278"/>
                </a:cubicBezTo>
                <a:cubicBezTo>
                  <a:pt x="4343296" y="453091"/>
                  <a:pt x="4288724" y="623613"/>
                  <a:pt x="4324487" y="726556"/>
                </a:cubicBezTo>
                <a:lnTo>
                  <a:pt x="4324487" y="726556"/>
                </a:lnTo>
                <a:cubicBezTo>
                  <a:pt x="4360612" y="803213"/>
                  <a:pt x="4317216" y="914253"/>
                  <a:pt x="4324487" y="1037937"/>
                </a:cubicBezTo>
                <a:cubicBezTo>
                  <a:pt x="4325270" y="1126052"/>
                  <a:pt x="4313478" y="1196794"/>
                  <a:pt x="4324487" y="1245524"/>
                </a:cubicBezTo>
                <a:cubicBezTo>
                  <a:pt x="4162099" y="1269728"/>
                  <a:pt x="3932012" y="1216854"/>
                  <a:pt x="3819964" y="1245524"/>
                </a:cubicBezTo>
                <a:cubicBezTo>
                  <a:pt x="3707916" y="1274194"/>
                  <a:pt x="3512609" y="1221143"/>
                  <a:pt x="3340666" y="1245524"/>
                </a:cubicBezTo>
                <a:cubicBezTo>
                  <a:pt x="3168723" y="1269905"/>
                  <a:pt x="3055236" y="1228562"/>
                  <a:pt x="2911821" y="1245524"/>
                </a:cubicBezTo>
                <a:cubicBezTo>
                  <a:pt x="2768406" y="1262486"/>
                  <a:pt x="2596067" y="1245150"/>
                  <a:pt x="2457750" y="1245524"/>
                </a:cubicBezTo>
                <a:cubicBezTo>
                  <a:pt x="2319433" y="1245898"/>
                  <a:pt x="1961787" y="1228419"/>
                  <a:pt x="1801870" y="1245524"/>
                </a:cubicBezTo>
                <a:cubicBezTo>
                  <a:pt x="1676805" y="1351020"/>
                  <a:pt x="1465420" y="1362361"/>
                  <a:pt x="1398610" y="1430435"/>
                </a:cubicBezTo>
                <a:cubicBezTo>
                  <a:pt x="1331800" y="1498509"/>
                  <a:pt x="1117610" y="1526704"/>
                  <a:pt x="978891" y="1622893"/>
                </a:cubicBezTo>
                <a:cubicBezTo>
                  <a:pt x="832146" y="1478930"/>
                  <a:pt x="811188" y="1350545"/>
                  <a:pt x="720748" y="1245524"/>
                </a:cubicBezTo>
                <a:cubicBezTo>
                  <a:pt x="593853" y="1258400"/>
                  <a:pt x="498677" y="1231026"/>
                  <a:pt x="381996" y="1245524"/>
                </a:cubicBezTo>
                <a:cubicBezTo>
                  <a:pt x="265315" y="1260022"/>
                  <a:pt x="175118" y="1242472"/>
                  <a:pt x="0" y="1245524"/>
                </a:cubicBezTo>
                <a:cubicBezTo>
                  <a:pt x="-17004" y="1178583"/>
                  <a:pt x="4628" y="1092505"/>
                  <a:pt x="0" y="1037937"/>
                </a:cubicBezTo>
                <a:cubicBezTo>
                  <a:pt x="-34246" y="909570"/>
                  <a:pt x="12261" y="877546"/>
                  <a:pt x="0" y="726556"/>
                </a:cubicBezTo>
                <a:lnTo>
                  <a:pt x="0" y="726556"/>
                </a:lnTo>
                <a:cubicBezTo>
                  <a:pt x="-25896" y="594097"/>
                  <a:pt x="2827" y="477142"/>
                  <a:pt x="0" y="385075"/>
                </a:cubicBezTo>
                <a:cubicBezTo>
                  <a:pt x="-2827" y="293008"/>
                  <a:pt x="35123" y="185604"/>
                  <a:pt x="0" y="0"/>
                </a:cubicBezTo>
                <a:close/>
              </a:path>
            </a:pathLst>
          </a:custGeom>
          <a:noFill/>
          <a:ln w="3175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wedgeRectCallout">
                    <a:avLst>
                      <a:gd name="adj1" fmla="val -27364"/>
                      <a:gd name="adj2" fmla="val 80298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4551CD5-6683-EC9E-FAAC-EA3E75D3810E}"/>
              </a:ext>
            </a:extLst>
          </p:cNvPr>
          <p:cNvSpPr txBox="1"/>
          <p:nvPr/>
        </p:nvSpPr>
        <p:spPr>
          <a:xfrm>
            <a:off x="5227784" y="4475097"/>
            <a:ext cx="34359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These stars formed together/move together         this is our key statistical signal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C8FA1F5-22C7-BB40-C6A4-D6595DC425F0}"/>
              </a:ext>
            </a:extLst>
          </p:cNvPr>
          <p:cNvCxnSpPr/>
          <p:nvPr/>
        </p:nvCxnSpPr>
        <p:spPr>
          <a:xfrm>
            <a:off x="6012873" y="4849091"/>
            <a:ext cx="203200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28D3D04-37E5-1C7F-0D23-0A4430C671BD}"/>
              </a:ext>
            </a:extLst>
          </p:cNvPr>
          <p:cNvGrpSpPr/>
          <p:nvPr/>
        </p:nvGrpSpPr>
        <p:grpSpPr>
          <a:xfrm>
            <a:off x="8079579" y="5769769"/>
            <a:ext cx="4248727" cy="276999"/>
            <a:chOff x="8079579" y="5769769"/>
            <a:chExt cx="4248727" cy="276999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3CAA040-5B59-EC72-C74C-9E2D83099B4B}"/>
                </a:ext>
              </a:extLst>
            </p:cNvPr>
            <p:cNvSpPr txBox="1"/>
            <p:nvPr/>
          </p:nvSpPr>
          <p:spPr>
            <a:xfrm>
              <a:off x="8079579" y="5769769"/>
              <a:ext cx="42487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Measurement noise + small intrinsic dispersion        spread</a:t>
              </a: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DD7B6B91-596D-D2C4-9B4B-0D1310E39C89}"/>
                </a:ext>
              </a:extLst>
            </p:cNvPr>
            <p:cNvCxnSpPr/>
            <p:nvPr/>
          </p:nvCxnSpPr>
          <p:spPr>
            <a:xfrm>
              <a:off x="11291455" y="5917504"/>
              <a:ext cx="203200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5" name="Curved Connector 54">
            <a:extLst>
              <a:ext uri="{FF2B5EF4-FFF2-40B4-BE49-F238E27FC236}">
                <a16:creationId xmlns:a16="http://schemas.microsoft.com/office/drawing/2014/main" id="{6C0E433C-714A-F112-4C1B-EDFC6B35BFB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971184" y="4819366"/>
            <a:ext cx="465516" cy="323273"/>
          </a:xfrm>
          <a:prstGeom prst="curvedConnector3">
            <a:avLst/>
          </a:prstGeom>
          <a:ln w="349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4FB59EBA-A41B-1C37-2654-19EF91123B7F}"/>
              </a:ext>
            </a:extLst>
          </p:cNvPr>
          <p:cNvSpPr txBox="1"/>
          <p:nvPr/>
        </p:nvSpPr>
        <p:spPr>
          <a:xfrm>
            <a:off x="8847582" y="5213761"/>
            <a:ext cx="25454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Proper motion values for each star</a:t>
            </a:r>
          </a:p>
        </p:txBody>
      </p:sp>
    </p:spTree>
    <p:extLst>
      <p:ext uri="{BB962C8B-B14F-4D97-AF65-F5344CB8AC3E}">
        <p14:creationId xmlns:p14="http://schemas.microsoft.com/office/powerpoint/2010/main" val="1050662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951158-BD74-B63F-BCA7-0A94B8FCFC2B}"/>
              </a:ext>
            </a:extLst>
          </p:cNvPr>
          <p:cNvSpPr txBox="1"/>
          <p:nvPr/>
        </p:nvSpPr>
        <p:spPr>
          <a:xfrm>
            <a:off x="461818" y="397163"/>
            <a:ext cx="4830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Gaussian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8A6099-A2BE-C0C8-3AF1-771BFA673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1023" y="875146"/>
            <a:ext cx="5463886" cy="4170316"/>
          </a:xfrm>
          <a:prstGeom prst="rect">
            <a:avLst/>
          </a:prstGeom>
        </p:spPr>
      </p:pic>
      <p:pic>
        <p:nvPicPr>
          <p:cNvPr id="8" name="Picture 7" descr="A math equation on a black background&#10;&#10;AI-generated content may be incorrect.">
            <a:extLst>
              <a:ext uri="{FF2B5EF4-FFF2-40B4-BE49-F238E27FC236}">
                <a16:creationId xmlns:a16="http://schemas.microsoft.com/office/drawing/2014/main" id="{FDC9E8EC-5A86-154D-BA50-EF7FEE3F56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27" y="1972772"/>
            <a:ext cx="3962400" cy="10033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CC49414-54E6-41BE-AFFD-505EC1C7A33D}"/>
              </a:ext>
            </a:extLst>
          </p:cNvPr>
          <p:cNvSpPr txBox="1"/>
          <p:nvPr/>
        </p:nvSpPr>
        <p:spPr>
          <a:xfrm>
            <a:off x="553399" y="4025423"/>
            <a:ext cx="510127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E3E3E3"/>
                </a:solidFill>
                <a:latin typeface="Google Sans Text"/>
              </a:rPr>
              <a:t>Mean (μ): center of the distribution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E3E3E3"/>
                </a:solidFill>
                <a:latin typeface="Google Sans Text"/>
              </a:rPr>
              <a:t>Standard deviation (σ): width of the distribution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08DE442-3DD0-1BE6-D84D-E3BF92BAE1F7}"/>
              </a:ext>
            </a:extLst>
          </p:cNvPr>
          <p:cNvCxnSpPr/>
          <p:nvPr/>
        </p:nvCxnSpPr>
        <p:spPr>
          <a:xfrm>
            <a:off x="9448800" y="1560945"/>
            <a:ext cx="0" cy="2946400"/>
          </a:xfrm>
          <a:prstGeom prst="line">
            <a:avLst/>
          </a:prstGeom>
          <a:ln w="76200">
            <a:solidFill>
              <a:srgbClr val="FFC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22E3B6C-3D0D-6530-B529-F53A42E1555B}"/>
              </a:ext>
            </a:extLst>
          </p:cNvPr>
          <p:cNvSpPr txBox="1"/>
          <p:nvPr/>
        </p:nvSpPr>
        <p:spPr>
          <a:xfrm>
            <a:off x="9290103" y="4945188"/>
            <a:ext cx="520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rgbClr val="FFC000"/>
                </a:solidFill>
                <a:latin typeface="Google Sans Text"/>
              </a:rPr>
              <a:t>μ</a:t>
            </a:r>
            <a:endParaRPr lang="en-US" dirty="0">
              <a:solidFill>
                <a:srgbClr val="FFC000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A902117-CA53-0191-A631-356BB58607B4}"/>
              </a:ext>
            </a:extLst>
          </p:cNvPr>
          <p:cNvCxnSpPr/>
          <p:nvPr/>
        </p:nvCxnSpPr>
        <p:spPr>
          <a:xfrm>
            <a:off x="8663709" y="2863273"/>
            <a:ext cx="1542473" cy="0"/>
          </a:xfrm>
          <a:prstGeom prst="straightConnector1">
            <a:avLst/>
          </a:prstGeom>
          <a:ln w="50800">
            <a:solidFill>
              <a:schemeClr val="accent2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C39BE51-C1C8-2A2C-F0B7-77966CDCD766}"/>
              </a:ext>
            </a:extLst>
          </p:cNvPr>
          <p:cNvSpPr txBox="1"/>
          <p:nvPr/>
        </p:nvSpPr>
        <p:spPr>
          <a:xfrm>
            <a:off x="9201858" y="2863273"/>
            <a:ext cx="493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Google Sans Text"/>
              </a:rPr>
              <a:t>2σ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2116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7DDD88-BBAC-0F23-32BD-AEA3AF3CD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5527" y="1013840"/>
            <a:ext cx="5708811" cy="43572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CF72C1-84DB-0B17-1CB9-6008D16593D4}"/>
              </a:ext>
            </a:extLst>
          </p:cNvPr>
          <p:cNvSpPr txBox="1"/>
          <p:nvPr/>
        </p:nvSpPr>
        <p:spPr>
          <a:xfrm>
            <a:off x="332509" y="295564"/>
            <a:ext cx="49137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Likelihood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AFA0217-956D-A2C8-DB34-1928949B71CF}"/>
                  </a:ext>
                </a:extLst>
              </p:cNvPr>
              <p:cNvSpPr txBox="1"/>
              <p:nvPr/>
            </p:nvSpPr>
            <p:spPr>
              <a:xfrm>
                <a:off x="157018" y="1173018"/>
                <a:ext cx="5993660" cy="52359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2000" dirty="0">
                    <a:solidFill>
                      <a:schemeClr val="bg1"/>
                    </a:solidFill>
                    <a:latin typeface="Google Sans Text"/>
                  </a:rPr>
                  <a:t>Likelihood(θ) = P(D | θ) = probability of observing data D if θ is true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Google Sans Text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panose="020B0604020202020204" pitchFamily="34" charset="0"/>
                  </a:rPr>
                  <a:t>Explain simply:</a:t>
                </a: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panose="020B0604020202020204" pitchFamily="34" charset="0"/>
                  </a:rPr>
                  <a:t>“How well does a model explain the data?”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panose="020B0604020202020204" pitchFamily="34" charset="0"/>
                  </a:rPr>
                  <a:t>For data points x</a:t>
                </a:r>
                <a:r>
                  <a:rPr kumimoji="0" lang="en-US" altLang="en-US" sz="2000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panose="020B0604020202020204" pitchFamily="34" charset="0"/>
                  </a:rPr>
                  <a:t>i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panose="020B0604020202020204" pitchFamily="34" charset="0"/>
                  </a:rPr>
                  <a:t>: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kumimoji="0" lang="en-US" alt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kumimoji="0" lang="en-US" alt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kumimoji="0" lang="en-US" altLang="en-US" sz="20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0" lang="en-US" altLang="en-US" sz="20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0" lang="en-US" altLang="en-US" sz="20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0" lang="en-US" altLang="en-US" sz="20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kumimoji="0" lang="en-US" altLang="en-US" sz="20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kumimoji="0" lang="en-US" altLang="en-US" sz="20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US" altLang="en-US" sz="20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en-US" sz="20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US" altLang="en-US" sz="20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b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panose="020B0604020202020204" pitchFamily="34" charset="0"/>
                  </a:rPr>
                </a:b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000" dirty="0">
                  <a:solidFill>
                    <a:schemeClr val="bg1"/>
                  </a:solidFill>
                  <a:latin typeface="Arial" panose="020B0604020202020204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panose="020B0604020202020204" pitchFamily="34" charset="0"/>
                  </a:rPr>
                  <a:t>We usually work with log(likelihood</a:t>
                </a:r>
                <a:r>
                  <a:rPr lang="en-US" altLang="en-US" sz="2000" dirty="0">
                    <a:solidFill>
                      <a:schemeClr val="bg1"/>
                    </a:solidFill>
                    <a:latin typeface="Arial" panose="020B0604020202020204" pitchFamily="34" charset="0"/>
                  </a:rPr>
                  <a:t>) for practical reasons: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en-US" b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</a:rPr>
                  <a:t>l</a:t>
                </a:r>
                <a14:m>
                  <m:oMath xmlns:m="http://schemas.openxmlformats.org/officeDocument/2006/math">
                    <m:r>
                      <a:rPr kumimoji="0" lang="en-US" altLang="en-US" b="0" i="1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𝑜𝑔</m:t>
                    </m:r>
                    <m:d>
                      <m:dPr>
                        <m:ctrlPr>
                          <a:rPr kumimoji="0" lang="en-US" altLang="en-US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altLang="en-US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</m:d>
                    <m:r>
                      <a:rPr kumimoji="0" lang="en-US" altLang="en-US" b="0" i="1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kumimoji="0" lang="en-US" altLang="en-US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kumimoji="0" lang="en-US" altLang="en-US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kumimoji="0" lang="en-US" altLang="en-US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0" lang="en-US" altLang="en-US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kumimoji="0" lang="en-US" altLang="en-US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bSup>
                    <m:r>
                      <m:rPr>
                        <m:sty m:val="p"/>
                      </m:rPr>
                      <a:rPr kumimoji="0" lang="en-US" altLang="en-US" b="0" i="1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log</m:t>
                    </m:r>
                    <m:r>
                      <a:rPr kumimoji="0" lang="en-US" altLang="en-US" b="0" i="1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kumimoji="0" lang="en-US" altLang="en-US" b="0" i="1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kumimoji="0" lang="en-US" altLang="en-US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en-US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en-US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en-US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kumimoji="0" lang="en-US" altLang="en-US" b="0" i="1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0" lang="en-US" altLang="en-US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AFA0217-956D-A2C8-DB34-1928949B71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018" y="1173018"/>
                <a:ext cx="5993660" cy="5235921"/>
              </a:xfrm>
              <a:prstGeom prst="rect">
                <a:avLst/>
              </a:prstGeom>
              <a:blipFill>
                <a:blip r:embed="rId3"/>
                <a:stretch>
                  <a:fillRect l="-6554" t="-726" b="-1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51C0420-550C-CA1C-5CF8-42A5CE9BA181}"/>
              </a:ext>
            </a:extLst>
          </p:cNvPr>
          <p:cNvSpPr txBox="1"/>
          <p:nvPr/>
        </p:nvSpPr>
        <p:spPr>
          <a:xfrm>
            <a:off x="2234829" y="4267200"/>
            <a:ext cx="2494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👉 we maximize this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849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71244A-41FD-B007-A5BC-1EF263DF6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C4FCAC-84E0-24E8-C6CB-3C2416D97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5527" y="1013840"/>
            <a:ext cx="5708811" cy="43572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E63105-1196-A753-1608-86F9EC1151E8}"/>
              </a:ext>
            </a:extLst>
          </p:cNvPr>
          <p:cNvSpPr txBox="1"/>
          <p:nvPr/>
        </p:nvSpPr>
        <p:spPr>
          <a:xfrm>
            <a:off x="332509" y="295564"/>
            <a:ext cx="49137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Likelihood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3D079AB-1157-9470-9053-BCFB6543F9B3}"/>
                  </a:ext>
                </a:extLst>
              </p:cNvPr>
              <p:cNvSpPr txBox="1"/>
              <p:nvPr/>
            </p:nvSpPr>
            <p:spPr>
              <a:xfrm>
                <a:off x="157018" y="1173018"/>
                <a:ext cx="5993660" cy="52359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2000" dirty="0">
                    <a:solidFill>
                      <a:schemeClr val="bg1"/>
                    </a:solidFill>
                    <a:latin typeface="Google Sans Text"/>
                  </a:rPr>
                  <a:t>Likelihood(θ) = P(D | θ) = probability of observing data D if θ is true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Google Sans Text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panose="020B0604020202020204" pitchFamily="34" charset="0"/>
                  </a:rPr>
                  <a:t>Explain simply:</a:t>
                </a: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panose="020B0604020202020204" pitchFamily="34" charset="0"/>
                  </a:rPr>
                  <a:t>“How well does a model explain the data?”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panose="020B0604020202020204" pitchFamily="34" charset="0"/>
                  </a:rPr>
                  <a:t>For data points x</a:t>
                </a:r>
                <a:r>
                  <a:rPr kumimoji="0" lang="en-US" altLang="en-US" sz="2000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panose="020B0604020202020204" pitchFamily="34" charset="0"/>
                  </a:rPr>
                  <a:t>i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panose="020B0604020202020204" pitchFamily="34" charset="0"/>
                  </a:rPr>
                  <a:t>: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kumimoji="0" lang="en-US" alt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kumimoji="0" lang="en-US" alt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kumimoji="0" lang="en-US" altLang="en-US" sz="20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0" lang="en-US" altLang="en-US" sz="20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0" lang="en-US" altLang="en-US" sz="20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0" lang="en-US" altLang="en-US" sz="20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kumimoji="0" lang="en-US" altLang="en-US" sz="20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kumimoji="0" lang="en-US" altLang="en-US" sz="20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US" altLang="en-US" sz="20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en-US" sz="20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US" altLang="en-US" sz="20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b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panose="020B0604020202020204" pitchFamily="34" charset="0"/>
                  </a:rPr>
                </a:b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000" dirty="0">
                  <a:solidFill>
                    <a:schemeClr val="bg1"/>
                  </a:solidFill>
                  <a:latin typeface="Arial" panose="020B0604020202020204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panose="020B0604020202020204" pitchFamily="34" charset="0"/>
                  </a:rPr>
                  <a:t>We usually work with log(likelihood</a:t>
                </a:r>
                <a:r>
                  <a:rPr lang="en-US" altLang="en-US" sz="2000" dirty="0">
                    <a:solidFill>
                      <a:schemeClr val="bg1"/>
                    </a:solidFill>
                    <a:latin typeface="Arial" panose="020B0604020202020204" pitchFamily="34" charset="0"/>
                  </a:rPr>
                  <a:t>) for practical reasons: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en-US" b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</a:rPr>
                  <a:t>l</a:t>
                </a:r>
                <a14:m>
                  <m:oMath xmlns:m="http://schemas.openxmlformats.org/officeDocument/2006/math">
                    <m:r>
                      <a:rPr kumimoji="0" lang="en-US" altLang="en-US" b="0" i="1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𝑜𝑔</m:t>
                    </m:r>
                    <m:d>
                      <m:dPr>
                        <m:ctrlPr>
                          <a:rPr kumimoji="0" lang="en-US" altLang="en-US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altLang="en-US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</m:d>
                    <m:r>
                      <a:rPr kumimoji="0" lang="en-US" altLang="en-US" b="0" i="1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kumimoji="0" lang="en-US" altLang="en-US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kumimoji="0" lang="en-US" altLang="en-US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kumimoji="0" lang="en-US" altLang="en-US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0" lang="en-US" altLang="en-US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kumimoji="0" lang="en-US" altLang="en-US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bSup>
                    <m:r>
                      <m:rPr>
                        <m:sty m:val="p"/>
                      </m:rPr>
                      <a:rPr kumimoji="0" lang="en-US" altLang="en-US" b="0" i="1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log</m:t>
                    </m:r>
                    <m:r>
                      <a:rPr kumimoji="0" lang="en-US" altLang="en-US" b="0" i="1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kumimoji="0" lang="en-US" altLang="en-US" b="0" i="1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kumimoji="0" lang="en-US" altLang="en-US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en-US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en-US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en-US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kumimoji="0" lang="en-US" altLang="en-US" b="0" i="1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0" lang="en-US" altLang="en-US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3D079AB-1157-9470-9053-BCFB6543F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018" y="1173018"/>
                <a:ext cx="5993660" cy="5235921"/>
              </a:xfrm>
              <a:prstGeom prst="rect">
                <a:avLst/>
              </a:prstGeom>
              <a:blipFill>
                <a:blip r:embed="rId3"/>
                <a:stretch>
                  <a:fillRect l="-6554" t="-726" b="-1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70FAE58-F312-CB15-6D2F-D6AA3B3286BE}"/>
              </a:ext>
            </a:extLst>
          </p:cNvPr>
          <p:cNvSpPr txBox="1"/>
          <p:nvPr/>
        </p:nvSpPr>
        <p:spPr>
          <a:xfrm>
            <a:off x="2234829" y="4267200"/>
            <a:ext cx="2494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👉 we maximize this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8FCF09-4327-16F8-C379-223D6A2D0D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4223" y="1066273"/>
            <a:ext cx="5640115" cy="4304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617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5BD507-AE5B-C746-C6C8-D3C0905C24DE}"/>
              </a:ext>
            </a:extLst>
          </p:cNvPr>
          <p:cNvSpPr txBox="1"/>
          <p:nvPr/>
        </p:nvSpPr>
        <p:spPr>
          <a:xfrm>
            <a:off x="508000" y="314036"/>
            <a:ext cx="7204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Two Populations/Mixture Models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112022-3695-02C3-4420-BBFBA097A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533" y="1257877"/>
            <a:ext cx="5886140" cy="4754996"/>
          </a:xfrm>
          <a:prstGeom prst="rect">
            <a:avLst/>
          </a:prstGeom>
        </p:spPr>
      </p:pic>
      <p:pic>
        <p:nvPicPr>
          <p:cNvPr id="4" name="Picture 3" descr="A cluster of stars in space&#10;&#10;AI-generated content may be incorrect.">
            <a:extLst>
              <a:ext uri="{FF2B5EF4-FFF2-40B4-BE49-F238E27FC236}">
                <a16:creationId xmlns:a16="http://schemas.microsoft.com/office/drawing/2014/main" id="{8F605729-3B51-96D0-8FFB-A3209292FA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76" t="-443" r="-529" b="877"/>
          <a:stretch>
            <a:fillRect/>
          </a:stretch>
        </p:blipFill>
        <p:spPr>
          <a:xfrm>
            <a:off x="-1" y="1257877"/>
            <a:ext cx="5606473" cy="5600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987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1250FE-A727-80EB-FCC9-1F329593DDC0}"/>
              </a:ext>
            </a:extLst>
          </p:cNvPr>
          <p:cNvSpPr txBox="1"/>
          <p:nvPr/>
        </p:nvSpPr>
        <p:spPr>
          <a:xfrm>
            <a:off x="378691" y="267855"/>
            <a:ext cx="66224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Likelihood for our Mixture Model: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41E6CF2-85B4-C437-7C5C-9CA761D7F29C}"/>
                  </a:ext>
                </a:extLst>
              </p:cNvPr>
              <p:cNvSpPr txBox="1"/>
              <p:nvPr/>
            </p:nvSpPr>
            <p:spPr>
              <a:xfrm>
                <a:off x="665017" y="1496291"/>
                <a:ext cx="8719128" cy="18049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</a:rPr>
                  <a:t>Simplistically we can write:</a:t>
                </a:r>
              </a:p>
              <a:p>
                <a:endParaRPr lang="en-US" dirty="0">
                  <a:solidFill>
                    <a:schemeClr val="bg1"/>
                  </a:solidFill>
                </a:endParaRP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Total = cluster + background</a:t>
                </a:r>
              </a:p>
              <a:p>
                <a:endParaRPr lang="en-US" dirty="0">
                  <a:solidFill>
                    <a:schemeClr val="bg1"/>
                  </a:solidFill>
                </a:endParaRP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Then formalize: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𝒩</m:t>
                      </m:r>
                      <m:d>
                        <m:dPr>
                          <m:sepChr m:val="∣"/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𝒩</m:t>
                      </m:r>
                      <m:d>
                        <m:dPr>
                          <m:sepChr m:val="∣"/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41E6CF2-85B4-C437-7C5C-9CA761D7F2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017" y="1496291"/>
                <a:ext cx="8719128" cy="1804918"/>
              </a:xfrm>
              <a:prstGeom prst="rect">
                <a:avLst/>
              </a:prstGeom>
              <a:blipFill>
                <a:blip r:embed="rId2"/>
                <a:stretch>
                  <a:fillRect l="-582" t="-1389" b="-6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8A5BC78-98DA-9574-37A7-1244B0B4006F}"/>
              </a:ext>
            </a:extLst>
          </p:cNvPr>
          <p:cNvSpPr txBox="1"/>
          <p:nvPr/>
        </p:nvSpPr>
        <p:spPr>
          <a:xfrm>
            <a:off x="1819564" y="4017705"/>
            <a:ext cx="15886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Fraction of cluster stars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92C14B0-6EB9-B3EE-0614-921375106056}"/>
              </a:ext>
            </a:extLst>
          </p:cNvPr>
          <p:cNvCxnSpPr/>
          <p:nvPr/>
        </p:nvCxnSpPr>
        <p:spPr>
          <a:xfrm flipH="1">
            <a:off x="2850963" y="3301209"/>
            <a:ext cx="378691" cy="698136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Left Brace 7">
            <a:extLst>
              <a:ext uri="{FF2B5EF4-FFF2-40B4-BE49-F238E27FC236}">
                <a16:creationId xmlns:a16="http://schemas.microsoft.com/office/drawing/2014/main" id="{0FA86F82-B6BF-10D1-8DAC-869418975314}"/>
              </a:ext>
            </a:extLst>
          </p:cNvPr>
          <p:cNvSpPr/>
          <p:nvPr/>
        </p:nvSpPr>
        <p:spPr>
          <a:xfrm rot="16200000">
            <a:off x="4049749" y="2829361"/>
            <a:ext cx="305592" cy="1113773"/>
          </a:xfrm>
          <a:prstGeom prst="leftBrace">
            <a:avLst>
              <a:gd name="adj1" fmla="val 8333"/>
              <a:gd name="adj2" fmla="val 68244"/>
            </a:avLst>
          </a:prstGeom>
          <a:ln w="317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07151F-95B4-A722-3B40-0B819E43744A}"/>
              </a:ext>
            </a:extLst>
          </p:cNvPr>
          <p:cNvSpPr txBox="1"/>
          <p:nvPr/>
        </p:nvSpPr>
        <p:spPr>
          <a:xfrm>
            <a:off x="3240306" y="3591315"/>
            <a:ext cx="2299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Normal distribution of cluster members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9E88EE59-8B84-968D-3A06-C7FCBBD8A64B}"/>
              </a:ext>
            </a:extLst>
          </p:cNvPr>
          <p:cNvSpPr/>
          <p:nvPr/>
        </p:nvSpPr>
        <p:spPr>
          <a:xfrm rot="16200000">
            <a:off x="6598986" y="2842094"/>
            <a:ext cx="305592" cy="1113773"/>
          </a:xfrm>
          <a:prstGeom prst="leftBrace">
            <a:avLst>
              <a:gd name="adj1" fmla="val 8333"/>
              <a:gd name="adj2" fmla="val 68244"/>
            </a:avLst>
          </a:prstGeom>
          <a:ln w="317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CC5E0F-653D-D7ED-CB3A-D829489B3CDC}"/>
              </a:ext>
            </a:extLst>
          </p:cNvPr>
          <p:cNvSpPr txBox="1"/>
          <p:nvPr/>
        </p:nvSpPr>
        <p:spPr>
          <a:xfrm>
            <a:off x="5929504" y="3636818"/>
            <a:ext cx="2299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Normal distribution of field members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67CDC3-1C6B-86ED-D511-3F244E4496B3}"/>
                  </a:ext>
                </a:extLst>
              </p:cNvPr>
              <p:cNvSpPr txBox="1"/>
              <p:nvPr/>
            </p:nvSpPr>
            <p:spPr>
              <a:xfrm>
                <a:off x="665017" y="4902336"/>
                <a:ext cx="6086765" cy="12154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dirty="0">
                    <a:solidFill>
                      <a:schemeClr val="bg1"/>
                    </a:solidFill>
                    <a:latin typeface="Arial" panose="020B0604020202020204" pitchFamily="34" charset="0"/>
                  </a:rPr>
                  <a:t>Now same as before we calculate log(likelihood):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dirty="0">
                  <a:solidFill>
                    <a:schemeClr val="bg1"/>
                  </a:solidFill>
                  <a:latin typeface="Arial" panose="020B0604020202020204" pitchFamily="34" charset="0"/>
                </a:endParaRPr>
              </a:p>
              <a:p>
                <a:pPr lvl="0"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en-US" b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</a:rPr>
                  <a:t>l</a:t>
                </a:r>
                <a14:m>
                  <m:oMath xmlns:m="http://schemas.openxmlformats.org/officeDocument/2006/math">
                    <m:r>
                      <a:rPr kumimoji="0" lang="en-US" altLang="en-US" b="0" i="1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𝑜𝑔</m:t>
                    </m:r>
                    <m:d>
                      <m:dPr>
                        <m:ctrlPr>
                          <a:rPr kumimoji="0" lang="en-US" altLang="en-US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altLang="en-US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</m:d>
                    <m:r>
                      <a:rPr kumimoji="0" lang="en-US" altLang="en-US" b="0" i="1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kumimoji="0" lang="en-US" altLang="en-US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kumimoji="0" lang="en-US" altLang="en-US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kumimoji="0" lang="en-US" altLang="en-US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0" lang="en-US" altLang="en-US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kumimoji="0" lang="en-US" altLang="en-US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bSup>
                    <m:r>
                      <m:rPr>
                        <m:sty m:val="p"/>
                      </m:rPr>
                      <a:rPr kumimoji="0" lang="en-US" altLang="en-US" b="0" i="1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log</m:t>
                    </m:r>
                    <m:r>
                      <a:rPr kumimoji="0" lang="en-US" altLang="en-US" b="0" i="1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kumimoji="0" lang="en-US" altLang="en-US" b="0" i="1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kumimoji="0" lang="en-US" altLang="en-US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en-US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en-US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en-US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kumimoji="0" lang="en-US" altLang="en-US" b="0" i="1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0" lang="en-US" altLang="en-US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67CDC3-1C6B-86ED-D511-3F244E4496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017" y="4902336"/>
                <a:ext cx="6086765" cy="1215461"/>
              </a:xfrm>
              <a:prstGeom prst="rect">
                <a:avLst/>
              </a:prstGeom>
              <a:blipFill>
                <a:blip r:embed="rId3"/>
                <a:stretch>
                  <a:fillRect l="-833" t="-10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1C7A33C9-4088-B32E-98D3-3DEF543F195A}"/>
              </a:ext>
            </a:extLst>
          </p:cNvPr>
          <p:cNvSpPr txBox="1"/>
          <p:nvPr/>
        </p:nvSpPr>
        <p:spPr>
          <a:xfrm>
            <a:off x="5540161" y="5469441"/>
            <a:ext cx="2951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👉 then we maximize 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648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83A2F1-E18D-F7A5-AA17-7DDE03593699}"/>
              </a:ext>
            </a:extLst>
          </p:cNvPr>
          <p:cNvSpPr txBox="1"/>
          <p:nvPr/>
        </p:nvSpPr>
        <p:spPr>
          <a:xfrm>
            <a:off x="526473" y="471055"/>
            <a:ext cx="35375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Bayes’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DF1495B-4149-01E5-BF56-BD538824BB49}"/>
                  </a:ext>
                </a:extLst>
              </p:cNvPr>
              <p:cNvSpPr txBox="1"/>
              <p:nvPr/>
            </p:nvSpPr>
            <p:spPr>
              <a:xfrm>
                <a:off x="526473" y="1681018"/>
                <a:ext cx="5347854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dirty="0">
                    <a:solidFill>
                      <a:schemeClr val="bg1"/>
                    </a:solidFill>
                    <a:latin typeface="Arial" panose="020B0604020202020204" pitchFamily="34" charset="0"/>
                  </a:rPr>
                  <a:t>Conceptually: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dirty="0">
                  <a:solidFill>
                    <a:schemeClr val="bg1"/>
                  </a:solidFill>
                  <a:latin typeface="Arial" panose="020B0604020202020204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altLang="en-US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Posterior</m:t>
                      </m:r>
                      <m:r>
                        <a:rPr lang="en-US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r>
                        <m:rPr>
                          <m:nor/>
                        </m:rPr>
                        <a:rPr lang="en-US" altLang="en-US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Likelihood</m:t>
                      </m:r>
                      <m:r>
                        <a:rPr lang="en-US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altLang="en-US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Prior</m:t>
                      </m:r>
                    </m:oMath>
                  </m:oMathPara>
                </a14:m>
                <a:endParaRPr lang="en-US" altLang="en-US" dirty="0">
                  <a:solidFill>
                    <a:schemeClr val="bg1"/>
                  </a:solidFill>
                  <a:latin typeface="Arial" panose="020B0604020202020204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dirty="0">
                  <a:solidFill>
                    <a:schemeClr val="bg1"/>
                  </a:solidFill>
                  <a:latin typeface="Arial" panose="020B0604020202020204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dirty="0">
                  <a:solidFill>
                    <a:schemeClr val="bg1"/>
                  </a:solidFill>
                  <a:latin typeface="Arial" panose="020B0604020202020204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dirty="0">
                  <a:solidFill>
                    <a:schemeClr val="bg1"/>
                  </a:solidFill>
                  <a:latin typeface="Arial" panose="020B0604020202020204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dirty="0">
                    <a:solidFill>
                      <a:schemeClr val="bg1"/>
                    </a:solidFill>
                    <a:latin typeface="Arial" panose="020B0604020202020204" pitchFamily="34" charset="0"/>
                  </a:rPr>
                  <a:t>Likelihood → data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dirty="0">
                    <a:solidFill>
                      <a:schemeClr val="bg1"/>
                    </a:solidFill>
                    <a:latin typeface="Arial" panose="020B0604020202020204" pitchFamily="34" charset="0"/>
                  </a:rPr>
                  <a:t>Prior → what we believe before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dirty="0">
                    <a:solidFill>
                      <a:schemeClr val="bg1"/>
                    </a:solidFill>
                    <a:latin typeface="Arial" panose="020B0604020202020204" pitchFamily="34" charset="0"/>
                  </a:rPr>
                  <a:t>Posterior → updated belief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dirty="0">
                  <a:solidFill>
                    <a:schemeClr val="bg1"/>
                  </a:solidFill>
                  <a:latin typeface="Arial" panose="020B0604020202020204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dirty="0">
                  <a:solidFill>
                    <a:schemeClr val="bg1"/>
                  </a:solidFill>
                  <a:latin typeface="Arial" panose="020B0604020202020204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dirty="0">
                  <a:solidFill>
                    <a:schemeClr val="bg1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DF1495B-4149-01E5-BF56-BD538824B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473" y="1681018"/>
                <a:ext cx="5347854" cy="3416320"/>
              </a:xfrm>
              <a:prstGeom prst="rect">
                <a:avLst/>
              </a:prstGeom>
              <a:blipFill>
                <a:blip r:embed="rId3"/>
                <a:stretch>
                  <a:fillRect l="-948" t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6ED6698-0FD8-4AD4-0A9F-390DB71BB8DF}"/>
              </a:ext>
            </a:extLst>
          </p:cNvPr>
          <p:cNvSpPr txBox="1"/>
          <p:nvPr/>
        </p:nvSpPr>
        <p:spPr>
          <a:xfrm>
            <a:off x="1030343" y="4992316"/>
            <a:ext cx="3606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👉 check out this YouTube video:</a:t>
            </a:r>
            <a:endParaRPr lang="en-US" dirty="0"/>
          </a:p>
        </p:txBody>
      </p:sp>
      <p:pic>
        <p:nvPicPr>
          <p:cNvPr id="4" name="Online Media 3" descr="Bayes theorem, the geometry of changing beliefs">
            <a:hlinkClick r:id="" action="ppaction://media"/>
            <a:extLst>
              <a:ext uri="{FF2B5EF4-FFF2-40B4-BE49-F238E27FC236}">
                <a16:creationId xmlns:a16="http://schemas.microsoft.com/office/drawing/2014/main" id="{76E3F02F-CD19-BC85-FA3A-11FA6A0ACB8F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4765638" y="2540705"/>
            <a:ext cx="7308028" cy="4129036"/>
          </a:xfrm>
          <a:prstGeom prst="rect">
            <a:avLst/>
          </a:prstGeom>
        </p:spPr>
      </p:pic>
      <p:sp>
        <p:nvSpPr>
          <p:cNvPr id="6" name="Rectangle 5">
            <a:hlinkClick r:id="rId5"/>
            <a:extLst>
              <a:ext uri="{FF2B5EF4-FFF2-40B4-BE49-F238E27FC236}">
                <a16:creationId xmlns:a16="http://schemas.microsoft.com/office/drawing/2014/main" id="{70544F58-018A-1DD3-8782-757B2E716496}"/>
              </a:ext>
            </a:extLst>
          </p:cNvPr>
          <p:cNvSpPr/>
          <p:nvPr/>
        </p:nvSpPr>
        <p:spPr>
          <a:xfrm>
            <a:off x="4754880" y="2538805"/>
            <a:ext cx="7437120" cy="43191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116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BFA80B-25AB-9558-9583-CDC34BB8A2A8}"/>
              </a:ext>
            </a:extLst>
          </p:cNvPr>
          <p:cNvSpPr txBox="1"/>
          <p:nvPr/>
        </p:nvSpPr>
        <p:spPr>
          <a:xfrm>
            <a:off x="517236" y="452582"/>
            <a:ext cx="7777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Markov Chain Monte Carlo (MCMC):</a:t>
            </a:r>
          </a:p>
        </p:txBody>
      </p:sp>
      <p:pic>
        <p:nvPicPr>
          <p:cNvPr id="4" name="Picture 3" descr="A diagram of a map of the earth&#10;&#10;AI-generated content may be incorrect.">
            <a:extLst>
              <a:ext uri="{FF2B5EF4-FFF2-40B4-BE49-F238E27FC236}">
                <a16:creationId xmlns:a16="http://schemas.microsoft.com/office/drawing/2014/main" id="{2EF1062B-5528-1BC7-9454-39AE2B1CB4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497" r="32264"/>
          <a:stretch>
            <a:fillRect/>
          </a:stretch>
        </p:blipFill>
        <p:spPr>
          <a:xfrm>
            <a:off x="942109" y="1819564"/>
            <a:ext cx="5264727" cy="4585854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4B6AC80-FAFE-541A-AD87-256173D04AD7}"/>
              </a:ext>
            </a:extLst>
          </p:cNvPr>
          <p:cNvCxnSpPr>
            <a:cxnSpLocks/>
          </p:cNvCxnSpPr>
          <p:nvPr/>
        </p:nvCxnSpPr>
        <p:spPr>
          <a:xfrm>
            <a:off x="923637" y="6428509"/>
            <a:ext cx="5430982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2F353D-34C7-9475-0B0C-1EF1ECF34A34}"/>
              </a:ext>
            </a:extLst>
          </p:cNvPr>
          <p:cNvCxnSpPr>
            <a:cxnSpLocks/>
          </p:cNvCxnSpPr>
          <p:nvPr/>
        </p:nvCxnSpPr>
        <p:spPr>
          <a:xfrm flipV="1">
            <a:off x="932873" y="1985818"/>
            <a:ext cx="0" cy="445192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D02A635-93A1-8FAF-6DE2-12B1E22ABD07}"/>
              </a:ext>
            </a:extLst>
          </p:cNvPr>
          <p:cNvSpPr txBox="1"/>
          <p:nvPr/>
        </p:nvSpPr>
        <p:spPr>
          <a:xfrm>
            <a:off x="3334325" y="644698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dirty="0">
                <a:solidFill>
                  <a:schemeClr val="bg1"/>
                </a:solidFill>
                <a:latin typeface="Google Sans Text"/>
              </a:rPr>
              <a:t>μ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A7315E-DE00-3F43-7F90-2A50A107318E}"/>
              </a:ext>
            </a:extLst>
          </p:cNvPr>
          <p:cNvSpPr txBox="1"/>
          <p:nvPr/>
        </p:nvSpPr>
        <p:spPr>
          <a:xfrm>
            <a:off x="369455" y="3639127"/>
            <a:ext cx="240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chemeClr val="bg1"/>
                </a:solidFill>
                <a:latin typeface="Google Sans Text"/>
              </a:rPr>
              <a:t>σ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8E9043B-B32A-559E-F025-E641D3B935A0}"/>
              </a:ext>
            </a:extLst>
          </p:cNvPr>
          <p:cNvGrpSpPr/>
          <p:nvPr/>
        </p:nvGrpSpPr>
        <p:grpSpPr>
          <a:xfrm>
            <a:off x="1085272" y="2172853"/>
            <a:ext cx="4978400" cy="4077856"/>
            <a:chOff x="6308436" y="1713342"/>
            <a:chExt cx="4978400" cy="4077856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143608C-A9B4-6EFE-6750-CAEB5793DDD2}"/>
                </a:ext>
              </a:extLst>
            </p:cNvPr>
            <p:cNvSpPr/>
            <p:nvPr/>
          </p:nvSpPr>
          <p:spPr>
            <a:xfrm>
              <a:off x="6428509" y="1722474"/>
              <a:ext cx="4858327" cy="4064000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6BC8AF6-AA48-09B6-B249-379B8CE5A6F3}"/>
                </a:ext>
              </a:extLst>
            </p:cNvPr>
            <p:cNvCxnSpPr>
              <a:stCxn id="16" idx="0"/>
              <a:endCxn id="16" idx="2"/>
            </p:cNvCxnSpPr>
            <p:nvPr/>
          </p:nvCxnSpPr>
          <p:spPr>
            <a:xfrm>
              <a:off x="8857673" y="1722474"/>
              <a:ext cx="0" cy="406400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367FBBC-F2E8-4259-B3DF-55FDB6CFE183}"/>
                </a:ext>
              </a:extLst>
            </p:cNvPr>
            <p:cNvCxnSpPr/>
            <p:nvPr/>
          </p:nvCxnSpPr>
          <p:spPr>
            <a:xfrm>
              <a:off x="9758218" y="1713342"/>
              <a:ext cx="0" cy="406400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D72D8B2-0A98-B926-CF33-370BBE399D1D}"/>
                </a:ext>
              </a:extLst>
            </p:cNvPr>
            <p:cNvCxnSpPr/>
            <p:nvPr/>
          </p:nvCxnSpPr>
          <p:spPr>
            <a:xfrm>
              <a:off x="10691091" y="1722474"/>
              <a:ext cx="0" cy="406400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2BBDF45-DEE5-6D20-813E-797050ACDB3C}"/>
                </a:ext>
              </a:extLst>
            </p:cNvPr>
            <p:cNvCxnSpPr/>
            <p:nvPr/>
          </p:nvCxnSpPr>
          <p:spPr>
            <a:xfrm>
              <a:off x="7966364" y="1727198"/>
              <a:ext cx="0" cy="406400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820D62D-1772-479A-AF64-F37AF57E776E}"/>
                </a:ext>
              </a:extLst>
            </p:cNvPr>
            <p:cNvCxnSpPr/>
            <p:nvPr/>
          </p:nvCxnSpPr>
          <p:spPr>
            <a:xfrm>
              <a:off x="7070436" y="1713342"/>
              <a:ext cx="0" cy="406400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2427A93-6E8C-B468-6036-F7DBC780D7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08436" y="2105558"/>
              <a:ext cx="4978400" cy="14064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3E37125-A98E-4969-4BFA-B39B5F2E4F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08436" y="2845339"/>
              <a:ext cx="4978400" cy="14064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DAA4DC5-0599-9937-688F-0B7929149CB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08436" y="3613249"/>
              <a:ext cx="4978400" cy="14064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2C3E858-4837-15FF-D1A4-B49666670A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08436" y="4380826"/>
              <a:ext cx="4978400" cy="14064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CF29166-BD17-D332-D27A-B072B15682A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08436" y="5125852"/>
              <a:ext cx="4978400" cy="14064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A5192C98-7742-E4C6-4DE1-6E894B02C879}"/>
              </a:ext>
            </a:extLst>
          </p:cNvPr>
          <p:cNvSpPr txBox="1"/>
          <p:nvPr/>
        </p:nvSpPr>
        <p:spPr>
          <a:xfrm>
            <a:off x="6613237" y="4072760"/>
            <a:ext cx="3565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Before: Using grid base method</a:t>
            </a:r>
          </a:p>
        </p:txBody>
      </p:sp>
    </p:spTree>
    <p:extLst>
      <p:ext uri="{BB962C8B-B14F-4D97-AF65-F5344CB8AC3E}">
        <p14:creationId xmlns:p14="http://schemas.microsoft.com/office/powerpoint/2010/main" val="472363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C8A77E-DD4F-8AF4-F9A7-5EC3C3485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3B0AA2-A9D5-8EE5-327E-E2657D674AA8}"/>
              </a:ext>
            </a:extLst>
          </p:cNvPr>
          <p:cNvSpPr txBox="1"/>
          <p:nvPr/>
        </p:nvSpPr>
        <p:spPr>
          <a:xfrm>
            <a:off x="517236" y="452582"/>
            <a:ext cx="7777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Markov Chain Monte Carlo (MCMC):</a:t>
            </a:r>
          </a:p>
        </p:txBody>
      </p:sp>
      <p:pic>
        <p:nvPicPr>
          <p:cNvPr id="4" name="Picture 3" descr="A diagram of a map of the earth&#10;&#10;AI-generated content may be incorrect.">
            <a:extLst>
              <a:ext uri="{FF2B5EF4-FFF2-40B4-BE49-F238E27FC236}">
                <a16:creationId xmlns:a16="http://schemas.microsoft.com/office/drawing/2014/main" id="{2D55B01D-DAC9-EEF1-21A9-AF47F8A569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497" r="32264"/>
          <a:stretch>
            <a:fillRect/>
          </a:stretch>
        </p:blipFill>
        <p:spPr>
          <a:xfrm>
            <a:off x="942109" y="1819564"/>
            <a:ext cx="5264727" cy="4585854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958AA78-C346-254F-7287-4A31A4539619}"/>
              </a:ext>
            </a:extLst>
          </p:cNvPr>
          <p:cNvCxnSpPr>
            <a:cxnSpLocks/>
          </p:cNvCxnSpPr>
          <p:nvPr/>
        </p:nvCxnSpPr>
        <p:spPr>
          <a:xfrm>
            <a:off x="923637" y="6428509"/>
            <a:ext cx="5430982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4AF167B-15F8-6F3B-FA5C-B5291A43833E}"/>
              </a:ext>
            </a:extLst>
          </p:cNvPr>
          <p:cNvCxnSpPr>
            <a:cxnSpLocks/>
          </p:cNvCxnSpPr>
          <p:nvPr/>
        </p:nvCxnSpPr>
        <p:spPr>
          <a:xfrm flipV="1">
            <a:off x="932873" y="1985818"/>
            <a:ext cx="0" cy="445192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E803E13-7F2B-6B23-09B1-82EE512A1A4D}"/>
              </a:ext>
            </a:extLst>
          </p:cNvPr>
          <p:cNvSpPr txBox="1"/>
          <p:nvPr/>
        </p:nvSpPr>
        <p:spPr>
          <a:xfrm>
            <a:off x="3334325" y="644698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dirty="0">
                <a:solidFill>
                  <a:schemeClr val="bg1"/>
                </a:solidFill>
                <a:latin typeface="Google Sans Text"/>
              </a:rPr>
              <a:t>μ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649F9E-61D5-1FD8-1D01-3CD612E4B1B4}"/>
              </a:ext>
            </a:extLst>
          </p:cNvPr>
          <p:cNvSpPr txBox="1"/>
          <p:nvPr/>
        </p:nvSpPr>
        <p:spPr>
          <a:xfrm>
            <a:off x="369455" y="3639127"/>
            <a:ext cx="240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chemeClr val="bg1"/>
                </a:solidFill>
                <a:latin typeface="Google Sans Text"/>
              </a:rPr>
              <a:t>σ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944CD7-C8D7-293D-C50A-03038B80983C}"/>
              </a:ext>
            </a:extLst>
          </p:cNvPr>
          <p:cNvSpPr txBox="1"/>
          <p:nvPr/>
        </p:nvSpPr>
        <p:spPr>
          <a:xfrm>
            <a:off x="8090583" y="2992796"/>
            <a:ext cx="33384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Now: Walking randomly but preferring better regions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B236965-E65F-0748-E763-07647C91CD35}"/>
              </a:ext>
            </a:extLst>
          </p:cNvPr>
          <p:cNvSpPr>
            <a:spLocks noChangeAspect="1"/>
          </p:cNvSpPr>
          <p:nvPr/>
        </p:nvSpPr>
        <p:spPr>
          <a:xfrm>
            <a:off x="4701309" y="4895272"/>
            <a:ext cx="91440" cy="9144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28786D4-D0F7-8A32-A71A-B18DC01B02C9}"/>
              </a:ext>
            </a:extLst>
          </p:cNvPr>
          <p:cNvSpPr>
            <a:spLocks noChangeAspect="1"/>
          </p:cNvSpPr>
          <p:nvPr/>
        </p:nvSpPr>
        <p:spPr>
          <a:xfrm>
            <a:off x="4792749" y="5661643"/>
            <a:ext cx="91440" cy="91440"/>
          </a:xfrm>
          <a:prstGeom prst="ellipse">
            <a:avLst/>
          </a:prstGeom>
          <a:solidFill>
            <a:schemeClr val="bg1">
              <a:alpha val="6720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456AB34-9858-E5CF-C4B3-8A6B0DF8B033}"/>
              </a:ext>
            </a:extLst>
          </p:cNvPr>
          <p:cNvCxnSpPr>
            <a:cxnSpLocks/>
            <a:stCxn id="3" idx="4"/>
          </p:cNvCxnSpPr>
          <p:nvPr/>
        </p:nvCxnSpPr>
        <p:spPr>
          <a:xfrm>
            <a:off x="4747029" y="4986712"/>
            <a:ext cx="91440" cy="651840"/>
          </a:xfrm>
          <a:prstGeom prst="straightConnector1">
            <a:avLst/>
          </a:prstGeom>
          <a:ln w="25400">
            <a:solidFill>
              <a:schemeClr val="bg1">
                <a:alpha val="52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388D0D35-35E7-DFBB-3B7F-8E104C97D30D}"/>
              </a:ext>
            </a:extLst>
          </p:cNvPr>
          <p:cNvSpPr>
            <a:spLocks noChangeAspect="1"/>
          </p:cNvSpPr>
          <p:nvPr/>
        </p:nvSpPr>
        <p:spPr>
          <a:xfrm>
            <a:off x="4345716" y="4576624"/>
            <a:ext cx="91440" cy="9144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72333CD-8B52-B29F-6FF7-E92CCECC7218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4437156" y="4668064"/>
            <a:ext cx="277544" cy="240599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83DC0F27-1B01-2BD3-7469-816F2F857818}"/>
              </a:ext>
            </a:extLst>
          </p:cNvPr>
          <p:cNvSpPr>
            <a:spLocks noChangeAspect="1"/>
          </p:cNvSpPr>
          <p:nvPr/>
        </p:nvSpPr>
        <p:spPr>
          <a:xfrm>
            <a:off x="4096328" y="4151751"/>
            <a:ext cx="91440" cy="9144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A37AC2D-9C05-2B34-ED74-FA909DD59959}"/>
              </a:ext>
            </a:extLst>
          </p:cNvPr>
          <p:cNvSpPr>
            <a:spLocks noChangeAspect="1"/>
          </p:cNvSpPr>
          <p:nvPr/>
        </p:nvSpPr>
        <p:spPr>
          <a:xfrm>
            <a:off x="3726873" y="4234879"/>
            <a:ext cx="91440" cy="9144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85959D7-1EF1-CF34-BFC5-91664952D447}"/>
              </a:ext>
            </a:extLst>
          </p:cNvPr>
          <p:cNvSpPr>
            <a:spLocks noChangeAspect="1"/>
          </p:cNvSpPr>
          <p:nvPr/>
        </p:nvSpPr>
        <p:spPr>
          <a:xfrm>
            <a:off x="3449784" y="4345713"/>
            <a:ext cx="91440" cy="9144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B6ED60E-D8D3-4DD2-4EE6-129B9AF5EFEC}"/>
              </a:ext>
            </a:extLst>
          </p:cNvPr>
          <p:cNvCxnSpPr>
            <a:cxnSpLocks/>
            <a:stCxn id="13" idx="5"/>
          </p:cNvCxnSpPr>
          <p:nvPr/>
        </p:nvCxnSpPr>
        <p:spPr>
          <a:xfrm flipH="1" flipV="1">
            <a:off x="4187768" y="4243191"/>
            <a:ext cx="235997" cy="411482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E76E39A-7B69-5FED-9532-895D4F6FC4C1}"/>
              </a:ext>
            </a:extLst>
          </p:cNvPr>
          <p:cNvCxnSpPr>
            <a:cxnSpLocks/>
            <a:stCxn id="26" idx="3"/>
          </p:cNvCxnSpPr>
          <p:nvPr/>
        </p:nvCxnSpPr>
        <p:spPr>
          <a:xfrm flipH="1">
            <a:off x="3803542" y="4229800"/>
            <a:ext cx="306177" cy="41104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77A04E8-9AE3-C764-14FF-435715D5016B}"/>
              </a:ext>
            </a:extLst>
          </p:cNvPr>
          <p:cNvCxnSpPr>
            <a:cxnSpLocks/>
          </p:cNvCxnSpPr>
          <p:nvPr/>
        </p:nvCxnSpPr>
        <p:spPr>
          <a:xfrm flipH="1">
            <a:off x="3541224" y="4336478"/>
            <a:ext cx="170183" cy="62354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F4DB9D1F-C2CA-9AFB-F4B6-C6EFA5C6CFEA}"/>
              </a:ext>
            </a:extLst>
          </p:cNvPr>
          <p:cNvSpPr>
            <a:spLocks noChangeAspect="1"/>
          </p:cNvSpPr>
          <p:nvPr/>
        </p:nvSpPr>
        <p:spPr>
          <a:xfrm>
            <a:off x="3459025" y="2747834"/>
            <a:ext cx="91440" cy="91440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D94F989-84E1-AFAD-1C8A-A19C986A1A1A}"/>
              </a:ext>
            </a:extLst>
          </p:cNvPr>
          <p:cNvSpPr>
            <a:spLocks noChangeAspect="1"/>
          </p:cNvSpPr>
          <p:nvPr/>
        </p:nvSpPr>
        <p:spPr>
          <a:xfrm>
            <a:off x="3611425" y="3112668"/>
            <a:ext cx="91440" cy="91440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5E414EE-C462-E14C-A7CC-DD1AAD759F63}"/>
              </a:ext>
            </a:extLst>
          </p:cNvPr>
          <p:cNvSpPr>
            <a:spLocks noChangeAspect="1"/>
          </p:cNvSpPr>
          <p:nvPr/>
        </p:nvSpPr>
        <p:spPr>
          <a:xfrm>
            <a:off x="3112664" y="3352810"/>
            <a:ext cx="91440" cy="91440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9A9C899-ECA8-CE97-04C4-162A2C6927AD}"/>
              </a:ext>
            </a:extLst>
          </p:cNvPr>
          <p:cNvSpPr>
            <a:spLocks noChangeAspect="1"/>
          </p:cNvSpPr>
          <p:nvPr/>
        </p:nvSpPr>
        <p:spPr>
          <a:xfrm>
            <a:off x="3472881" y="3906987"/>
            <a:ext cx="91440" cy="91440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D47E4D5-EF61-236E-560D-CB0DBED4DAD0}"/>
              </a:ext>
            </a:extLst>
          </p:cNvPr>
          <p:cNvSpPr>
            <a:spLocks noChangeAspect="1"/>
          </p:cNvSpPr>
          <p:nvPr/>
        </p:nvSpPr>
        <p:spPr>
          <a:xfrm>
            <a:off x="3362042" y="4193320"/>
            <a:ext cx="91440" cy="91440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F5D0F70-25FC-CBB2-12E6-7978817E7E66}"/>
              </a:ext>
            </a:extLst>
          </p:cNvPr>
          <p:cNvCxnSpPr>
            <a:cxnSpLocks/>
          </p:cNvCxnSpPr>
          <p:nvPr/>
        </p:nvCxnSpPr>
        <p:spPr>
          <a:xfrm>
            <a:off x="3537300" y="2839270"/>
            <a:ext cx="79779" cy="266352"/>
          </a:xfrm>
          <a:prstGeom prst="straightConnector1">
            <a:avLst/>
          </a:prstGeom>
          <a:ln w="254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CDCAAAA-9434-2BE9-3C0E-D6EBA91082F7}"/>
              </a:ext>
            </a:extLst>
          </p:cNvPr>
          <p:cNvCxnSpPr>
            <a:cxnSpLocks/>
          </p:cNvCxnSpPr>
          <p:nvPr/>
        </p:nvCxnSpPr>
        <p:spPr>
          <a:xfrm flipH="1">
            <a:off x="3204104" y="3204108"/>
            <a:ext cx="370368" cy="148702"/>
          </a:xfrm>
          <a:prstGeom prst="straightConnector1">
            <a:avLst/>
          </a:prstGeom>
          <a:ln w="254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DFD3240-B30A-94CD-29D3-AAA0A1A761E8}"/>
              </a:ext>
            </a:extLst>
          </p:cNvPr>
          <p:cNvCxnSpPr>
            <a:cxnSpLocks/>
          </p:cNvCxnSpPr>
          <p:nvPr/>
        </p:nvCxnSpPr>
        <p:spPr>
          <a:xfrm>
            <a:off x="3186084" y="3462724"/>
            <a:ext cx="286797" cy="421172"/>
          </a:xfrm>
          <a:prstGeom prst="straightConnector1">
            <a:avLst/>
          </a:prstGeom>
          <a:ln w="254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9F4E016-E3F8-F975-57C4-18DB882AC3F4}"/>
              </a:ext>
            </a:extLst>
          </p:cNvPr>
          <p:cNvCxnSpPr>
            <a:cxnSpLocks/>
            <a:endCxn id="46" idx="7"/>
          </p:cNvCxnSpPr>
          <p:nvPr/>
        </p:nvCxnSpPr>
        <p:spPr>
          <a:xfrm flipH="1">
            <a:off x="3440091" y="4034277"/>
            <a:ext cx="64654" cy="172434"/>
          </a:xfrm>
          <a:prstGeom prst="straightConnector1">
            <a:avLst/>
          </a:prstGeom>
          <a:ln w="254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Multiply 61">
            <a:extLst>
              <a:ext uri="{FF2B5EF4-FFF2-40B4-BE49-F238E27FC236}">
                <a16:creationId xmlns:a16="http://schemas.microsoft.com/office/drawing/2014/main" id="{0B0B7AEC-3D22-C124-BB0A-3E7145BD8C00}"/>
              </a:ext>
            </a:extLst>
          </p:cNvPr>
          <p:cNvSpPr/>
          <p:nvPr/>
        </p:nvSpPr>
        <p:spPr>
          <a:xfrm>
            <a:off x="4640349" y="5176399"/>
            <a:ext cx="304800" cy="272466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5" name="Curved Connector 64">
            <a:extLst>
              <a:ext uri="{FF2B5EF4-FFF2-40B4-BE49-F238E27FC236}">
                <a16:creationId xmlns:a16="http://schemas.microsoft.com/office/drawing/2014/main" id="{0C7B4FCC-53FC-D531-80D8-10AC679BDE67}"/>
              </a:ext>
            </a:extLst>
          </p:cNvPr>
          <p:cNvCxnSpPr/>
          <p:nvPr/>
        </p:nvCxnSpPr>
        <p:spPr>
          <a:xfrm flipV="1">
            <a:off x="3611425" y="1985818"/>
            <a:ext cx="2059702" cy="762016"/>
          </a:xfrm>
          <a:prstGeom prst="curvedConnector3">
            <a:avLst/>
          </a:prstGeom>
          <a:ln>
            <a:solidFill>
              <a:schemeClr val="bg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urved Connector 66">
            <a:extLst>
              <a:ext uri="{FF2B5EF4-FFF2-40B4-BE49-F238E27FC236}">
                <a16:creationId xmlns:a16="http://schemas.microsoft.com/office/drawing/2014/main" id="{1426D2CA-0F44-1092-63F5-0E80A5E3A175}"/>
              </a:ext>
            </a:extLst>
          </p:cNvPr>
          <p:cNvCxnSpPr/>
          <p:nvPr/>
        </p:nvCxnSpPr>
        <p:spPr>
          <a:xfrm rot="5400000" flipH="1" flipV="1">
            <a:off x="3990740" y="3052558"/>
            <a:ext cx="2583535" cy="888076"/>
          </a:xfrm>
          <a:prstGeom prst="curvedConnector3">
            <a:avLst/>
          </a:prstGeom>
          <a:ln>
            <a:solidFill>
              <a:schemeClr val="bg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274D6FD-F767-B047-8D48-3C29582E3770}"/>
              </a:ext>
            </a:extLst>
          </p:cNvPr>
          <p:cNvSpPr txBox="1"/>
          <p:nvPr/>
        </p:nvSpPr>
        <p:spPr>
          <a:xfrm>
            <a:off x="5874327" y="1819564"/>
            <a:ext cx="1116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Walkers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59F149-788C-6046-3804-4E6B250EAC99}"/>
              </a:ext>
            </a:extLst>
          </p:cNvPr>
          <p:cNvSpPr txBox="1"/>
          <p:nvPr/>
        </p:nvSpPr>
        <p:spPr>
          <a:xfrm>
            <a:off x="7248263" y="5248916"/>
            <a:ext cx="4760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👉 check out the last example from notebook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477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3251</TotalTime>
  <Words>635</Words>
  <Application>Microsoft Macintosh PowerPoint</Application>
  <PresentationFormat>Widescreen</PresentationFormat>
  <Paragraphs>118</Paragraphs>
  <Slides>13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Google Sans Text</vt:lpstr>
      <vt:lpstr>Office Theme</vt:lpstr>
      <vt:lpstr>From Stars to Statistics: Understanding Globular Clusters with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Ahvazi, Niusha (dkk9en)</dc:creator>
  <cp:lastModifiedBy>Ahvazi, Niusha (dkk9en)</cp:lastModifiedBy>
  <cp:revision>10</cp:revision>
  <dcterms:created xsi:type="dcterms:W3CDTF">2026-03-17T14:59:01Z</dcterms:created>
  <dcterms:modified xsi:type="dcterms:W3CDTF">2026-10-05T19:30:07Z</dcterms:modified>
</cp:coreProperties>
</file>